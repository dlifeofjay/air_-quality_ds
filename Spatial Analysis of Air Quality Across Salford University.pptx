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1"/>
  </p:sldMasterIdLst>
  <p:notesMasterIdLst>
    <p:notesMasterId r:id="rId17"/>
  </p:notesMasterIdLst>
  <p:handoutMasterIdLst>
    <p:handoutMasterId r:id="rId18"/>
  </p:handoutMasterIdLst>
  <p:sldIdLst>
    <p:sldId id="256" r:id="rId2"/>
    <p:sldId id="273" r:id="rId3"/>
    <p:sldId id="274" r:id="rId4"/>
    <p:sldId id="284" r:id="rId5"/>
    <p:sldId id="275" r:id="rId6"/>
    <p:sldId id="277" r:id="rId7"/>
    <p:sldId id="262" r:id="rId8"/>
    <p:sldId id="263" r:id="rId9"/>
    <p:sldId id="279" r:id="rId10"/>
    <p:sldId id="278" r:id="rId11"/>
    <p:sldId id="282" r:id="rId12"/>
    <p:sldId id="285" r:id="rId13"/>
    <p:sldId id="287" r:id="rId14"/>
    <p:sldId id="288" r:id="rId15"/>
    <p:sldId id="289"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5000" autoAdjust="0"/>
  </p:normalViewPr>
  <p:slideViewPr>
    <p:cSldViewPr>
      <p:cViewPr varScale="1">
        <p:scale>
          <a:sx n="66" d="100"/>
          <a:sy n="66" d="100"/>
        </p:scale>
        <p:origin x="676" y="36"/>
      </p:cViewPr>
      <p:guideLst>
        <p:guide orient="horz" pos="2160"/>
        <p:guide pos="3839"/>
      </p:guideLst>
    </p:cSldViewPr>
  </p:slideViewPr>
  <p:notesTextViewPr>
    <p:cViewPr>
      <p:scale>
        <a:sx n="1" d="1"/>
        <a:sy n="1" d="1"/>
      </p:scale>
      <p:origin x="0" y="0"/>
    </p:cViewPr>
  </p:notesTextViewPr>
  <p:notesViewPr>
    <p:cSldViewPr>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C6ACB66-EAB9-4D45-9F9C-28EA120D791D}" type="datetimeFigureOut">
              <a:rPr lang="en-US"/>
              <a:t>4/15/2026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2837A6B-DAA4-4C2D-AEAB-4E9E70095794}" type="slidenum">
              <a:rPr/>
              <a:t>‹#›</a:t>
            </a:fld>
            <a:endParaRPr/>
          </a:p>
        </p:txBody>
      </p:sp>
    </p:spTree>
    <p:extLst>
      <p:ext uri="{BB962C8B-B14F-4D97-AF65-F5344CB8AC3E}">
        <p14:creationId xmlns:p14="http://schemas.microsoft.com/office/powerpoint/2010/main" val="29215455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79D970-AC71-40CF-8717-2E4EAB5207AF}" type="datetimeFigureOut">
              <a:rPr lang="en-US"/>
              <a:t>4/15/2026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266150-FA26-45B5-BF0B-186B42A09DC9}" type="slidenum">
              <a:rPr/>
              <a:t>‹#›</a:t>
            </a:fld>
            <a:endParaRPr/>
          </a:p>
        </p:txBody>
      </p:sp>
    </p:spTree>
    <p:extLst>
      <p:ext uri="{BB962C8B-B14F-4D97-AF65-F5344CB8AC3E}">
        <p14:creationId xmlns:p14="http://schemas.microsoft.com/office/powerpoint/2010/main" val="145946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3A2CC701-D80A-463B-8415-A85485312088}" type="slidenum">
              <a:rPr lang="en-US" smtClean="0"/>
              <a:t>7</a:t>
            </a:fld>
            <a:endParaRPr lang="en-US"/>
          </a:p>
        </p:txBody>
      </p:sp>
    </p:spTree>
    <p:extLst>
      <p:ext uri="{BB962C8B-B14F-4D97-AF65-F5344CB8AC3E}">
        <p14:creationId xmlns:p14="http://schemas.microsoft.com/office/powerpoint/2010/main" val="169998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3A2CC701-D80A-463B-8415-A85485312088}" type="slidenum">
              <a:rPr lang="en-US" smtClean="0"/>
              <a:t>8</a:t>
            </a:fld>
            <a:endParaRPr lang="en-US"/>
          </a:p>
        </p:txBody>
      </p:sp>
    </p:spTree>
    <p:extLst>
      <p:ext uri="{BB962C8B-B14F-4D97-AF65-F5344CB8AC3E}">
        <p14:creationId xmlns:p14="http://schemas.microsoft.com/office/powerpoint/2010/main" val="711306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150" y="802299"/>
            <a:ext cx="8634824" cy="2541431"/>
          </a:xfrm>
        </p:spPr>
        <p:txBody>
          <a:bodyPr bIns="0" anchor="b">
            <a:normAutofit/>
          </a:bodyPr>
          <a:lstStyle>
            <a:lvl1pPr algn="l">
              <a:defRPr sz="6598"/>
            </a:lvl1pPr>
          </a:lstStyle>
          <a:p>
            <a:r>
              <a:rPr lang="en-US"/>
              <a:t>Click to edit Master title style</a:t>
            </a:r>
            <a:endParaRPr lang="en-US" dirty="0"/>
          </a:p>
        </p:txBody>
      </p:sp>
      <p:sp>
        <p:nvSpPr>
          <p:cNvPr id="3" name="Subtitle 2"/>
          <p:cNvSpPr>
            <a:spLocks noGrp="1"/>
          </p:cNvSpPr>
          <p:nvPr>
            <p:ph type="subTitle" idx="1"/>
          </p:nvPr>
        </p:nvSpPr>
        <p:spPr>
          <a:xfrm>
            <a:off x="2417150" y="3531205"/>
            <a:ext cx="8634823" cy="977621"/>
          </a:xfrm>
        </p:spPr>
        <p:txBody>
          <a:bodyPr tIns="91440" bIns="91440">
            <a:normAutofit/>
          </a:bodyPr>
          <a:lstStyle>
            <a:lvl1pPr marL="0" indent="0" algn="l">
              <a:buNone/>
              <a:defRPr sz="1799" b="0" cap="all" baseline="0">
                <a:solidFill>
                  <a:schemeClr val="tx1"/>
                </a:solidFill>
              </a:defRPr>
            </a:lvl1pPr>
            <a:lvl2pPr marL="457063" indent="0" algn="ctr">
              <a:buNone/>
              <a:defRPr sz="17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2466975-C014-42E5-BFA6-B8D5FDD3B81F}" type="datetimeFigureOut">
              <a:rPr lang="en-US" smtClean="0"/>
              <a:t>4/15/2026</a:t>
            </a:fld>
            <a:endParaRPr lang="en-US"/>
          </a:p>
        </p:txBody>
      </p:sp>
      <p:sp>
        <p:nvSpPr>
          <p:cNvPr id="5" name="Footer Placeholder 4"/>
          <p:cNvSpPr>
            <a:spLocks noGrp="1"/>
          </p:cNvSpPr>
          <p:nvPr>
            <p:ph type="ftr" sz="quarter" idx="11"/>
          </p:nvPr>
        </p:nvSpPr>
        <p:spPr>
          <a:xfrm>
            <a:off x="2415871" y="329308"/>
            <a:ext cx="4972620" cy="309201"/>
          </a:xfrm>
        </p:spPr>
        <p:txBody>
          <a:bodyPr/>
          <a:lstStyle/>
          <a:p>
            <a:r>
              <a:rPr lang="en-US"/>
              <a:t>Add a footer</a:t>
            </a:r>
            <a:endParaRPr lang="en-US" dirty="0"/>
          </a:p>
        </p:txBody>
      </p:sp>
      <p:sp>
        <p:nvSpPr>
          <p:cNvPr id="6" name="Slide Number Placeholder 5"/>
          <p:cNvSpPr>
            <a:spLocks noGrp="1"/>
          </p:cNvSpPr>
          <p:nvPr>
            <p:ph type="sldNum" sz="quarter" idx="12"/>
          </p:nvPr>
        </p:nvSpPr>
        <p:spPr>
          <a:xfrm>
            <a:off x="1437290" y="798973"/>
            <a:ext cx="810808" cy="503578"/>
          </a:xfrm>
        </p:spPr>
        <p:txBody>
          <a:bodyPr/>
          <a:lstStyle/>
          <a:p>
            <a:fld id="{693B167E-EA96-4147-81DE-549160052C22}" type="slidenum">
              <a:rPr lang="en-AE" smtClean="0"/>
              <a:t>‹#›</a:t>
            </a:fld>
            <a:endParaRPr lang="en-AE"/>
          </a:p>
        </p:txBody>
      </p:sp>
      <p:cxnSp>
        <p:nvCxnSpPr>
          <p:cNvPr id="15" name="Straight Connector 14"/>
          <p:cNvCxnSpPr/>
          <p:nvPr/>
        </p:nvCxnSpPr>
        <p:spPr>
          <a:xfrm>
            <a:off x="2417150" y="3528542"/>
            <a:ext cx="863482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8598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466975-C014-42E5-BFA6-B8D5FDD3B81F}" type="datetimeFigureOut">
              <a:rPr lang="en-US" smtClean="0"/>
              <a:t>4/15/2026</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693B167E-EA96-4147-81DE-549160052C22}" type="slidenum">
              <a:rPr lang="en-AE" smtClean="0"/>
              <a:t>‹#›</a:t>
            </a:fld>
            <a:endParaRPr lang="en-AE"/>
          </a:p>
        </p:txBody>
      </p:sp>
      <p:cxnSp>
        <p:nvCxnSpPr>
          <p:cNvPr id="33" name="Straight Connector 32"/>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15719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3860" y="1756130"/>
            <a:ext cx="8640903" cy="1887950"/>
          </a:xfrm>
        </p:spPr>
        <p:txBody>
          <a:bodyPr anchor="b">
            <a:normAutofit/>
          </a:bodyPr>
          <a:lstStyle>
            <a:lvl1pPr algn="l">
              <a:defRPr sz="3599"/>
            </a:lvl1pPr>
          </a:lstStyle>
          <a:p>
            <a:r>
              <a:rPr lang="en-US"/>
              <a:t>Click to edit Master title style</a:t>
            </a:r>
            <a:endParaRPr lang="en-US" dirty="0"/>
          </a:p>
        </p:txBody>
      </p:sp>
      <p:sp>
        <p:nvSpPr>
          <p:cNvPr id="3" name="Text Placeholder 2"/>
          <p:cNvSpPr>
            <a:spLocks noGrp="1"/>
          </p:cNvSpPr>
          <p:nvPr>
            <p:ph type="body" idx="1"/>
          </p:nvPr>
        </p:nvSpPr>
        <p:spPr>
          <a:xfrm>
            <a:off x="1453861" y="3806196"/>
            <a:ext cx="8628198" cy="1012929"/>
          </a:xfrm>
        </p:spPr>
        <p:txBody>
          <a:bodyPr tIns="91440">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799">
                <a:solidFill>
                  <a:schemeClr val="tx1">
                    <a:tint val="75000"/>
                  </a:schemeClr>
                </a:solidFill>
              </a:defRPr>
            </a:lvl3pPr>
            <a:lvl4pPr marL="1371189" indent="0">
              <a:buNone/>
              <a:defRPr sz="1600">
                <a:solidFill>
                  <a:schemeClr val="tx1">
                    <a:tint val="75000"/>
                  </a:schemeClr>
                </a:solidFill>
              </a:defRPr>
            </a:lvl4pPr>
            <a:lvl5pPr marL="1828251" indent="0">
              <a:buNone/>
              <a:defRPr sz="1600">
                <a:solidFill>
                  <a:schemeClr val="tx1">
                    <a:tint val="75000"/>
                  </a:schemeClr>
                </a:solidFill>
              </a:defRPr>
            </a:lvl5pPr>
            <a:lvl6pPr marL="2285314" indent="0">
              <a:buNone/>
              <a:defRPr sz="1600">
                <a:solidFill>
                  <a:schemeClr val="tx1">
                    <a:tint val="75000"/>
                  </a:schemeClr>
                </a:solidFill>
              </a:defRPr>
            </a:lvl6pPr>
            <a:lvl7pPr marL="2742377" indent="0">
              <a:buNone/>
              <a:defRPr sz="1600">
                <a:solidFill>
                  <a:schemeClr val="tx1">
                    <a:tint val="75000"/>
                  </a:schemeClr>
                </a:solidFill>
              </a:defRPr>
            </a:lvl7pPr>
            <a:lvl8pPr marL="3199440" indent="0">
              <a:buNone/>
              <a:defRPr sz="1600">
                <a:solidFill>
                  <a:schemeClr val="tx1">
                    <a:tint val="75000"/>
                  </a:schemeClr>
                </a:solidFill>
              </a:defRPr>
            </a:lvl8pPr>
            <a:lvl9pPr marL="3656503"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466975-C014-42E5-BFA6-B8D5FDD3B81F}" type="datetimeFigureOut">
              <a:rPr lang="en-US" smtClean="0"/>
              <a:t>4/15/2026</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693B167E-EA96-4147-81DE-549160052C22}" type="slidenum">
              <a:rPr lang="en-AE" smtClean="0"/>
              <a:t>‹#›</a:t>
            </a:fld>
            <a:endParaRPr lang="en-AE"/>
          </a:p>
        </p:txBody>
      </p:sp>
      <p:cxnSp>
        <p:nvCxnSpPr>
          <p:cNvPr id="15" name="Straight Connector 14"/>
          <p:cNvCxnSpPr/>
          <p:nvPr/>
        </p:nvCxnSpPr>
        <p:spPr>
          <a:xfrm>
            <a:off x="1453861" y="3804985"/>
            <a:ext cx="862819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84036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8840" y="804890"/>
            <a:ext cx="9603134"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6954" y="2010879"/>
            <a:ext cx="464394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2101" y="2017343"/>
            <a:ext cx="464394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2466975-C014-42E5-BFA6-B8D5FDD3B81F}" type="datetimeFigureOut">
              <a:rPr lang="en-US" smtClean="0"/>
              <a:t>4/15/2026</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693B167E-EA96-4147-81DE-549160052C22}" type="slidenum">
              <a:rPr lang="en-AE" smtClean="0"/>
              <a:t>‹#›</a:t>
            </a:fld>
            <a:endParaRPr lang="en-AE"/>
          </a:p>
        </p:txBody>
      </p:sp>
      <p:cxnSp>
        <p:nvCxnSpPr>
          <p:cNvPr id="35" name="Straight Connector 34"/>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34720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6815" y="804164"/>
            <a:ext cx="9605159"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6814" y="2019550"/>
            <a:ext cx="4643942" cy="801943"/>
          </a:xfrm>
        </p:spPr>
        <p:txBody>
          <a:bodyPr anchor="b">
            <a:normAutofit/>
          </a:bodyPr>
          <a:lstStyle>
            <a:lvl1pPr marL="0" indent="0">
              <a:lnSpc>
                <a:spcPct val="100000"/>
              </a:lnSpc>
              <a:buNone/>
              <a:defRPr sz="2199" b="0" cap="all" baseline="0">
                <a:solidFill>
                  <a:schemeClr val="accent1"/>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1446814" y="2824270"/>
            <a:ext cx="464394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0692" y="2023004"/>
            <a:ext cx="4643942" cy="802237"/>
          </a:xfrm>
        </p:spPr>
        <p:txBody>
          <a:bodyPr anchor="b">
            <a:normAutofit/>
          </a:bodyPr>
          <a:lstStyle>
            <a:lvl1pPr marL="0" indent="0">
              <a:lnSpc>
                <a:spcPct val="100000"/>
              </a:lnSpc>
              <a:buNone/>
              <a:defRPr sz="2199" b="0" cap="all" baseline="0">
                <a:solidFill>
                  <a:schemeClr val="accent1"/>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0692" y="2821491"/>
            <a:ext cx="464394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2466975-C014-42E5-BFA6-B8D5FDD3B81F}" type="datetimeFigureOut">
              <a:rPr lang="en-US" smtClean="0"/>
              <a:t>4/15/2026</a:t>
            </a:fld>
            <a:endParaRPr lang="en-US"/>
          </a:p>
        </p:txBody>
      </p:sp>
      <p:sp>
        <p:nvSpPr>
          <p:cNvPr id="8" name="Footer Placeholder 7"/>
          <p:cNvSpPr>
            <a:spLocks noGrp="1"/>
          </p:cNvSpPr>
          <p:nvPr>
            <p:ph type="ftr" sz="quarter" idx="11"/>
          </p:nvPr>
        </p:nvSpPr>
        <p:spPr/>
        <p:txBody>
          <a:bodyPr/>
          <a:lstStyle/>
          <a:p>
            <a:r>
              <a:rPr lang="en-US"/>
              <a:t>Add a footer</a:t>
            </a:r>
            <a:endParaRPr lang="en-US" dirty="0"/>
          </a:p>
        </p:txBody>
      </p:sp>
      <p:sp>
        <p:nvSpPr>
          <p:cNvPr id="9" name="Slide Number Placeholder 8"/>
          <p:cNvSpPr>
            <a:spLocks noGrp="1"/>
          </p:cNvSpPr>
          <p:nvPr>
            <p:ph type="sldNum" sz="quarter" idx="12"/>
          </p:nvPr>
        </p:nvSpPr>
        <p:spPr/>
        <p:txBody>
          <a:bodyPr/>
          <a:lstStyle/>
          <a:p>
            <a:fld id="{693B167E-EA96-4147-81DE-549160052C22}" type="slidenum">
              <a:rPr lang="en-AE" smtClean="0"/>
              <a:t>‹#›</a:t>
            </a:fld>
            <a:endParaRPr lang="en-AE"/>
          </a:p>
        </p:txBody>
      </p:sp>
      <p:cxnSp>
        <p:nvCxnSpPr>
          <p:cNvPr id="29" name="Straight Connector 28"/>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3805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2466975-C014-42E5-BFA6-B8D5FDD3B81F}" type="datetimeFigureOut">
              <a:rPr lang="en-US" smtClean="0"/>
              <a:t>4/15/2026</a:t>
            </a:fld>
            <a:endParaRPr lang="en-US"/>
          </a:p>
        </p:txBody>
      </p:sp>
      <p:sp>
        <p:nvSpPr>
          <p:cNvPr id="4" name="Footer Placeholder 3"/>
          <p:cNvSpPr>
            <a:spLocks noGrp="1"/>
          </p:cNvSpPr>
          <p:nvPr>
            <p:ph type="ftr" sz="quarter" idx="11"/>
          </p:nvPr>
        </p:nvSpPr>
        <p:spPr/>
        <p:txBody>
          <a:bodyPr/>
          <a:lstStyle/>
          <a:p>
            <a:r>
              <a:rPr lang="en-US"/>
              <a:t>Add a footer</a:t>
            </a:r>
            <a:endParaRPr lang="en-US" dirty="0"/>
          </a:p>
        </p:txBody>
      </p:sp>
      <p:sp>
        <p:nvSpPr>
          <p:cNvPr id="5" name="Slide Number Placeholder 4"/>
          <p:cNvSpPr>
            <a:spLocks noGrp="1"/>
          </p:cNvSpPr>
          <p:nvPr>
            <p:ph type="sldNum" sz="quarter" idx="12"/>
          </p:nvPr>
        </p:nvSpPr>
        <p:spPr/>
        <p:txBody>
          <a:bodyPr/>
          <a:lstStyle/>
          <a:p>
            <a:fld id="{693B167E-EA96-4147-81DE-549160052C22}" type="slidenum">
              <a:rPr lang="en-AE" smtClean="0"/>
              <a:t>‹#›</a:t>
            </a:fld>
            <a:endParaRPr lang="en-AE"/>
          </a:p>
        </p:txBody>
      </p:sp>
      <p:cxnSp>
        <p:nvCxnSpPr>
          <p:cNvPr id="25" name="Straight Connector 24"/>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4204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466975-C014-42E5-BFA6-B8D5FDD3B81F}" type="datetimeFigureOut">
              <a:rPr lang="en-US" smtClean="0"/>
              <a:t>4/15/2026</a:t>
            </a:fld>
            <a:endParaRPr lang="en-US"/>
          </a:p>
        </p:txBody>
      </p:sp>
      <p:sp>
        <p:nvSpPr>
          <p:cNvPr id="3" name="Footer Placeholder 2"/>
          <p:cNvSpPr>
            <a:spLocks noGrp="1"/>
          </p:cNvSpPr>
          <p:nvPr>
            <p:ph type="ftr" sz="quarter" idx="11"/>
          </p:nvPr>
        </p:nvSpPr>
        <p:spPr/>
        <p:txBody>
          <a:bodyPr/>
          <a:lstStyle/>
          <a:p>
            <a:r>
              <a:rPr lang="en-US"/>
              <a:t>Add a footer</a:t>
            </a:r>
            <a:endParaRPr lang="en-US" dirty="0"/>
          </a:p>
        </p:txBody>
      </p:sp>
      <p:sp>
        <p:nvSpPr>
          <p:cNvPr id="4" name="Slide Number Placeholder 3"/>
          <p:cNvSpPr>
            <a:spLocks noGrp="1"/>
          </p:cNvSpPr>
          <p:nvPr>
            <p:ph type="sldNum" sz="quarter" idx="12"/>
          </p:nvPr>
        </p:nvSpPr>
        <p:spPr/>
        <p:txBody>
          <a:bodyPr/>
          <a:lstStyle/>
          <a:p>
            <a:fld id="{693B167E-EA96-4147-81DE-549160052C22}" type="slidenum">
              <a:rPr lang="en-AE" smtClean="0"/>
              <a:t>‹#›</a:t>
            </a:fld>
            <a:endParaRPr lang="en-AE"/>
          </a:p>
        </p:txBody>
      </p:sp>
    </p:spTree>
    <p:extLst>
      <p:ext uri="{BB962C8B-B14F-4D97-AF65-F5344CB8AC3E}">
        <p14:creationId xmlns:p14="http://schemas.microsoft.com/office/powerpoint/2010/main" val="1703258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295" y="798973"/>
            <a:ext cx="3272247" cy="2247117"/>
          </a:xfrm>
        </p:spPr>
        <p:txBody>
          <a:bodyPr anchor="b">
            <a:normAutofit/>
          </a:bodyPr>
          <a:lstStyle>
            <a:lvl1pPr algn="l">
              <a:defRPr sz="2399"/>
            </a:lvl1pPr>
          </a:lstStyle>
          <a:p>
            <a:r>
              <a:rPr lang="en-US"/>
              <a:t>Click to edit Master title style</a:t>
            </a:r>
            <a:endParaRPr lang="en-US" dirty="0"/>
          </a:p>
        </p:txBody>
      </p:sp>
      <p:sp>
        <p:nvSpPr>
          <p:cNvPr id="3" name="Content Placeholder 2"/>
          <p:cNvSpPr>
            <a:spLocks noGrp="1"/>
          </p:cNvSpPr>
          <p:nvPr>
            <p:ph idx="1"/>
          </p:nvPr>
        </p:nvSpPr>
        <p:spPr>
          <a:xfrm>
            <a:off x="5042401" y="798974"/>
            <a:ext cx="6010904"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295" y="3205492"/>
            <a:ext cx="3274160" cy="2248181"/>
          </a:xfrm>
        </p:spPr>
        <p:txBody>
          <a:bodyPr/>
          <a:lstStyle>
            <a:lvl1pPr marL="0" indent="0" algn="l">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466975-C014-42E5-BFA6-B8D5FDD3B81F}" type="datetimeFigureOut">
              <a:rPr lang="en-US" smtClean="0"/>
              <a:t>4/15/2026</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693B167E-EA96-4147-81DE-549160052C22}" type="slidenum">
              <a:rPr lang="en-AE" smtClean="0"/>
              <a:t>‹#›</a:t>
            </a:fld>
            <a:endParaRPr lang="en-AE"/>
          </a:p>
        </p:txBody>
      </p:sp>
      <p:cxnSp>
        <p:nvCxnSpPr>
          <p:cNvPr id="17" name="Straight Connector 16"/>
          <p:cNvCxnSpPr/>
          <p:nvPr/>
        </p:nvCxnSpPr>
        <p:spPr>
          <a:xfrm>
            <a:off x="1447903" y="3205491"/>
            <a:ext cx="326863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1553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5440" y="482171"/>
            <a:ext cx="4073472"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0828" y="1129513"/>
            <a:ext cx="5530887" cy="1830584"/>
          </a:xfrm>
        </p:spPr>
        <p:txBody>
          <a:bodyPr anchor="b">
            <a:normAutofit/>
          </a:bodyPr>
          <a:lstStyle>
            <a:lvl1pPr>
              <a:defRPr sz="3199"/>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2274" y="1122543"/>
            <a:ext cx="2790444" cy="3866327"/>
          </a:xfrm>
          <a:solidFill>
            <a:schemeClr val="bg1">
              <a:lumMod val="85000"/>
            </a:schemeClr>
          </a:solidFill>
          <a:ln w="9525" cap="sq">
            <a:noFill/>
            <a:miter lim="800000"/>
          </a:ln>
          <a:effectLst/>
        </p:spPr>
        <p:txBody>
          <a:bodyPr anchor="t"/>
          <a:lstStyle>
            <a:lvl1pPr marL="0" indent="0" algn="ctr">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a:t>Click icon to add picture</a:t>
            </a:r>
            <a:endParaRPr lang="en-US" dirty="0"/>
          </a:p>
        </p:txBody>
      </p:sp>
      <p:sp>
        <p:nvSpPr>
          <p:cNvPr id="4" name="Text Placeholder 3"/>
          <p:cNvSpPr>
            <a:spLocks noGrp="1"/>
          </p:cNvSpPr>
          <p:nvPr>
            <p:ph type="body" sz="half" idx="2"/>
          </p:nvPr>
        </p:nvSpPr>
        <p:spPr>
          <a:xfrm>
            <a:off x="1449951" y="3145992"/>
            <a:ext cx="5522965" cy="2003742"/>
          </a:xfrm>
        </p:spPr>
        <p:txBody>
          <a:bodyPr>
            <a:normAutofit/>
          </a:bodyPr>
          <a:lstStyle>
            <a:lvl1pPr marL="0" indent="0" algn="l">
              <a:buNone/>
              <a:defRPr sz="1799"/>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005" y="5469857"/>
            <a:ext cx="5525912" cy="320123"/>
          </a:xfrm>
        </p:spPr>
        <p:txBody>
          <a:bodyPr/>
          <a:lstStyle>
            <a:lvl1pPr algn="l">
              <a:defRPr/>
            </a:lvl1pPr>
          </a:lstStyle>
          <a:p>
            <a:fld id="{52466975-C014-42E5-BFA6-B8D5FDD3B81F}" type="datetimeFigureOut">
              <a:rPr lang="en-US" smtClean="0"/>
              <a:t>4/15/2026</a:t>
            </a:fld>
            <a:endParaRPr lang="en-US"/>
          </a:p>
        </p:txBody>
      </p:sp>
      <p:sp>
        <p:nvSpPr>
          <p:cNvPr id="6" name="Footer Placeholder 5"/>
          <p:cNvSpPr>
            <a:spLocks noGrp="1"/>
          </p:cNvSpPr>
          <p:nvPr>
            <p:ph type="ftr" sz="quarter" idx="11"/>
          </p:nvPr>
        </p:nvSpPr>
        <p:spPr>
          <a:xfrm>
            <a:off x="1447005" y="318641"/>
            <a:ext cx="5539561" cy="320931"/>
          </a:xfrm>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693B167E-EA96-4147-81DE-549160052C22}" type="slidenum">
              <a:rPr lang="en-AE" smtClean="0"/>
              <a:t>‹#›</a:t>
            </a:fld>
            <a:endParaRPr lang="en-AE"/>
          </a:p>
        </p:txBody>
      </p:sp>
      <p:cxnSp>
        <p:nvCxnSpPr>
          <p:cNvPr id="31" name="Straight Connector 30"/>
          <p:cNvCxnSpPr/>
          <p:nvPr/>
        </p:nvCxnSpPr>
        <p:spPr>
          <a:xfrm>
            <a:off x="1447005" y="3143605"/>
            <a:ext cx="552591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71373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466975-C014-42E5-BFA6-B8D5FDD3B81F}" type="datetimeFigureOut">
              <a:rPr lang="en-US" smtClean="0"/>
              <a:t>4/15/2026</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693B167E-EA96-4147-81DE-549160052C22}" type="slidenum">
              <a:rPr lang="en-AE" smtClean="0"/>
              <a:t>‹#›</a:t>
            </a:fld>
            <a:endParaRPr lang="en-AE"/>
          </a:p>
        </p:txBody>
      </p:sp>
      <p:cxnSp>
        <p:nvCxnSpPr>
          <p:cNvPr id="26" name="Straight Connector 25"/>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95394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6653" y="798974"/>
            <a:ext cx="1615321"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296" y="798974"/>
            <a:ext cx="7826791"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466975-C014-42E5-BFA6-B8D5FDD3B81F}" type="datetimeFigureOut">
              <a:rPr lang="en-US" smtClean="0"/>
              <a:t>4/15/2026</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693B167E-EA96-4147-81DE-549160052C22}" type="slidenum">
              <a:rPr lang="en-AE" smtClean="0"/>
              <a:t>‹#›</a:t>
            </a:fld>
            <a:endParaRPr lang="en-AE"/>
          </a:p>
        </p:txBody>
      </p:sp>
      <p:cxnSp>
        <p:nvCxnSpPr>
          <p:cNvPr id="15" name="Straight Connector 14"/>
          <p:cNvCxnSpPr/>
          <p:nvPr/>
        </p:nvCxnSpPr>
        <p:spPr>
          <a:xfrm>
            <a:off x="9436653"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8199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7"/>
            <a:ext cx="12188825"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88825" cy="742950"/>
          </a:xfrm>
          <a:prstGeom prst="rect">
            <a:avLst/>
          </a:prstGeom>
        </p:spPr>
      </p:pic>
      <p:sp>
        <p:nvSpPr>
          <p:cNvPr id="2" name="Title Placeholder 1"/>
          <p:cNvSpPr>
            <a:spLocks noGrp="1"/>
          </p:cNvSpPr>
          <p:nvPr>
            <p:ph type="title"/>
          </p:nvPr>
        </p:nvSpPr>
        <p:spPr>
          <a:xfrm>
            <a:off x="1451202" y="804520"/>
            <a:ext cx="9600774"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202" y="2015733"/>
            <a:ext cx="9600774"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2171" y="330370"/>
            <a:ext cx="3499803"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2466975-C014-42E5-BFA6-B8D5FDD3B81F}" type="datetimeFigureOut">
              <a:rPr lang="en-US" smtClean="0"/>
              <a:pPr/>
              <a:t>4/15/2026</a:t>
            </a:fld>
            <a:endParaRPr lang="en-US"/>
          </a:p>
        </p:txBody>
      </p:sp>
      <p:sp>
        <p:nvSpPr>
          <p:cNvPr id="5" name="Footer Placeholder 4"/>
          <p:cNvSpPr>
            <a:spLocks noGrp="1"/>
          </p:cNvSpPr>
          <p:nvPr>
            <p:ph type="ftr" sz="quarter" idx="3"/>
          </p:nvPr>
        </p:nvSpPr>
        <p:spPr>
          <a:xfrm>
            <a:off x="1451201" y="329308"/>
            <a:ext cx="5937289"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479935" y="798973"/>
            <a:ext cx="810808" cy="503578"/>
          </a:xfrm>
          <a:prstGeom prst="rect">
            <a:avLst/>
          </a:prstGeom>
        </p:spPr>
        <p:txBody>
          <a:bodyPr vert="horz" lIns="91440" tIns="45720" rIns="91440" bIns="45720" rtlCol="0" anchor="t"/>
          <a:lstStyle>
            <a:lvl1pPr algn="r">
              <a:defRPr sz="2799">
                <a:solidFill>
                  <a:schemeClr val="accent1"/>
                </a:solidFill>
              </a:defRPr>
            </a:lvl1pPr>
          </a:lstStyle>
          <a:p>
            <a:fld id="{693B167E-EA96-4147-81DE-549160052C22}" type="slidenum">
              <a:rPr lang="en-US" smtClean="0"/>
              <a:pPr/>
              <a:t>‹#›</a:t>
            </a:fld>
            <a:endParaRPr lang="en-US"/>
          </a:p>
        </p:txBody>
      </p:sp>
      <p:cxnSp>
        <p:nvCxnSpPr>
          <p:cNvPr id="10" name="Straight Connector 9"/>
          <p:cNvCxnSpPr/>
          <p:nvPr/>
        </p:nvCxnSpPr>
        <p:spPr>
          <a:xfrm>
            <a:off x="0" y="6128413"/>
            <a:ext cx="12188825"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375221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90000"/>
        </a:lnSpc>
        <a:spcBef>
          <a:spcPct val="0"/>
        </a:spcBef>
        <a:buNone/>
        <a:defRPr sz="3199" b="0" i="0" kern="1200" cap="all">
          <a:solidFill>
            <a:schemeClr val="tx1"/>
          </a:solidFill>
          <a:effectLst/>
          <a:latin typeface="+mj-lt"/>
          <a:ea typeface="+mj-ea"/>
          <a:cs typeface="+mj-cs"/>
        </a:defRPr>
      </a:lvl1pPr>
    </p:titleStyle>
    <p:bodyStyle>
      <a:lvl1pPr marL="228531" indent="-228531" algn="l" defTabSz="914126" rtl="0" eaLnBrk="1" latinLnBrk="0" hangingPunct="1">
        <a:lnSpc>
          <a:spcPct val="120000"/>
        </a:lnSpc>
        <a:spcBef>
          <a:spcPts val="1000"/>
        </a:spcBef>
        <a:buClr>
          <a:schemeClr val="accent1"/>
        </a:buClr>
        <a:buSzPct val="100000"/>
        <a:buFont typeface="Arial" panose="020B0604020202020204" pitchFamily="34" charset="0"/>
        <a:buChar char="•"/>
        <a:defRPr sz="1999" kern="1200">
          <a:solidFill>
            <a:schemeClr val="tx1"/>
          </a:solidFill>
          <a:effectLst/>
          <a:latin typeface="+mn-lt"/>
          <a:ea typeface="+mn-ea"/>
          <a:cs typeface="+mn-cs"/>
        </a:defRPr>
      </a:lvl1pPr>
      <a:lvl2pPr marL="685594"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799" kern="1200" cap="none" baseline="0">
          <a:solidFill>
            <a:schemeClr val="tx1"/>
          </a:solidFill>
          <a:effectLst/>
          <a:latin typeface="+mn-lt"/>
          <a:ea typeface="+mn-ea"/>
          <a:cs typeface="+mn-cs"/>
        </a:defRPr>
      </a:lvl2pPr>
      <a:lvl3pPr marL="1142657"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599720"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6783"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3846"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0908"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7971"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5034"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plot.ly/" TargetMode="External"/><Relationship Id="rId2" Type="http://schemas.openxmlformats.org/officeDocument/2006/relationships/hyperlink" Target="https://www.python.org/"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latin typeface="Arial" panose="020B0604020202020204" pitchFamily="34" charset="0"/>
                <a:cs typeface="Arial" panose="020B0604020202020204" pitchFamily="34" charset="0"/>
              </a:rPr>
              <a:t>Spatial Analysis of Air Quality Across Salford University</a:t>
            </a:r>
          </a:p>
        </p:txBody>
      </p:sp>
      <p:sp>
        <p:nvSpPr>
          <p:cNvPr id="3" name="Subtitle 2"/>
          <p:cNvSpPr>
            <a:spLocks noGrp="1"/>
          </p:cNvSpPr>
          <p:nvPr>
            <p:ph type="subTitle" idx="1"/>
          </p:nvPr>
        </p:nvSpPr>
        <p:spPr/>
        <p:txBody>
          <a:bodyPr/>
          <a:lstStyle/>
          <a:p>
            <a:r>
              <a:rPr lang="en-US" dirty="0">
                <a:latin typeface="Arial" panose="020B0604020202020204" pitchFamily="34" charset="0"/>
                <a:cs typeface="Arial" panose="020B0604020202020204" pitchFamily="34" charset="0"/>
              </a:rPr>
              <a:t>Spatial Distribution and Critical Evaluation of Air Quality Metrics across Campus Environment</a:t>
            </a:r>
          </a:p>
        </p:txBody>
      </p:sp>
    </p:spTree>
    <p:extLst>
      <p:ext uri="{BB962C8B-B14F-4D97-AF65-F5344CB8AC3E}">
        <p14:creationId xmlns:p14="http://schemas.microsoft.com/office/powerpoint/2010/main" val="116178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413892" y="1268760"/>
            <a:ext cx="9600774" cy="1049235"/>
          </a:xfrm>
        </p:spPr>
        <p:txBody>
          <a:bodyPr/>
          <a:lstStyle/>
          <a:p>
            <a:r>
              <a:rPr lang="en-US" dirty="0">
                <a:latin typeface="Arial" panose="020B0604020202020204" pitchFamily="34" charset="0"/>
                <a:cs typeface="Arial" panose="020B0604020202020204" pitchFamily="34" charset="0"/>
              </a:rPr>
              <a:t>Content Layout</a:t>
            </a:r>
          </a:p>
        </p:txBody>
      </p:sp>
      <p:sp>
        <p:nvSpPr>
          <p:cNvPr id="14" name="Content Placeholder 13"/>
          <p:cNvSpPr>
            <a:spLocks noGrp="1"/>
          </p:cNvSpPr>
          <p:nvPr>
            <p:ph idx="1"/>
          </p:nvPr>
        </p:nvSpPr>
        <p:spPr>
          <a:xfrm>
            <a:off x="117749" y="1772816"/>
            <a:ext cx="5904656" cy="5040560"/>
          </a:xfrm>
        </p:spPr>
        <p:txBody>
          <a:bodyPr/>
          <a:lstStyle/>
          <a:p>
            <a:r>
              <a:rPr lang="en-US" dirty="0">
                <a:latin typeface="Arial" panose="020B0604020202020204" pitchFamily="34" charset="0"/>
                <a:cs typeface="Arial" panose="020B0604020202020204" pitchFamily="34" charset="0"/>
              </a:rPr>
              <a:t>Introduction &amp; Rationale</a:t>
            </a:r>
          </a:p>
          <a:p>
            <a:r>
              <a:rPr lang="en-US" dirty="0">
                <a:latin typeface="Arial" panose="020B0604020202020204" pitchFamily="34" charset="0"/>
                <a:cs typeface="Arial" panose="020B0604020202020204" pitchFamily="34" charset="0"/>
              </a:rPr>
              <a:t>Key Variables &amp; Relevance</a:t>
            </a:r>
          </a:p>
          <a:p>
            <a:r>
              <a:rPr lang="en-US" dirty="0">
                <a:latin typeface="Arial" panose="020B0604020202020204" pitchFamily="34" charset="0"/>
                <a:cs typeface="Arial" panose="020B0604020202020204" pitchFamily="34" charset="0"/>
              </a:rPr>
              <a:t>Methodology And Sampling Strategy</a:t>
            </a:r>
          </a:p>
          <a:p>
            <a:r>
              <a:rPr lang="en-US" dirty="0">
                <a:latin typeface="Arial" panose="020B0604020202020204" pitchFamily="34" charset="0"/>
                <a:cs typeface="Arial" panose="020B0604020202020204" pitchFamily="34" charset="0"/>
              </a:rPr>
              <a:t>Statistical Findings</a:t>
            </a:r>
          </a:p>
          <a:p>
            <a:r>
              <a:rPr lang="en-US" dirty="0">
                <a:latin typeface="Arial" panose="020B0604020202020204" pitchFamily="34" charset="0"/>
                <a:cs typeface="Arial" panose="020B0604020202020204" pitchFamily="34" charset="0"/>
              </a:rPr>
              <a:t>Spatial Distribution</a:t>
            </a:r>
          </a:p>
          <a:p>
            <a:r>
              <a:rPr lang="en-US" dirty="0">
                <a:latin typeface="Arial" panose="020B0604020202020204" pitchFamily="34" charset="0"/>
                <a:cs typeface="Arial" panose="020B0604020202020204" pitchFamily="34" charset="0"/>
              </a:rPr>
              <a:t>Limitations of Report</a:t>
            </a:r>
          </a:p>
          <a:p>
            <a:r>
              <a:rPr lang="en-US" dirty="0">
                <a:latin typeface="Arial" panose="020B0604020202020204" pitchFamily="34" charset="0"/>
                <a:cs typeface="Arial" panose="020B0604020202020204" pitchFamily="34" charset="0"/>
              </a:rPr>
              <a:t>Recommendations</a:t>
            </a:r>
          </a:p>
          <a:p>
            <a:r>
              <a:rPr lang="en-US" dirty="0">
                <a:latin typeface="Arial" panose="020B0604020202020204" pitchFamily="34" charset="0"/>
                <a:cs typeface="Arial" panose="020B0604020202020204" pitchFamily="34" charset="0"/>
              </a:rPr>
              <a:t>Follow on Study</a:t>
            </a:r>
          </a:p>
          <a:p>
            <a:r>
              <a:rPr lang="en-US" dirty="0">
                <a:latin typeface="Arial" panose="020B0604020202020204" pitchFamily="34" charset="0"/>
                <a:cs typeface="Arial" panose="020B0604020202020204" pitchFamily="34" charset="0"/>
              </a:rPr>
              <a:t>Reference List</a:t>
            </a:r>
          </a:p>
          <a:p>
            <a:endParaRPr lang="en-US" dirty="0"/>
          </a:p>
        </p:txBody>
      </p:sp>
    </p:spTree>
    <p:extLst>
      <p:ext uri="{BB962C8B-B14F-4D97-AF65-F5344CB8AC3E}">
        <p14:creationId xmlns:p14="http://schemas.microsoft.com/office/powerpoint/2010/main" val="3211877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3892" y="1340768"/>
            <a:ext cx="9252521" cy="504055"/>
          </a:xfrm>
        </p:spPr>
        <p:txBody>
          <a:bodyPr>
            <a:normAutofit fontScale="90000"/>
          </a:bodyPr>
          <a:lstStyle/>
          <a:p>
            <a:r>
              <a:rPr lang="en-US" dirty="0">
                <a:latin typeface="Arial" panose="020B0604020202020204" pitchFamily="34" charset="0"/>
                <a:cs typeface="Arial" panose="020B0604020202020204" pitchFamily="34" charset="0"/>
              </a:rPr>
              <a:t>Introduction &amp; Rationale</a:t>
            </a:r>
          </a:p>
        </p:txBody>
      </p:sp>
      <p:sp>
        <p:nvSpPr>
          <p:cNvPr id="4" name="Content Placeholder 3">
            <a:extLst>
              <a:ext uri="{FF2B5EF4-FFF2-40B4-BE49-F238E27FC236}">
                <a16:creationId xmlns:a16="http://schemas.microsoft.com/office/drawing/2014/main" id="{9D6157CC-6019-4EA6-8C88-3895B3B47BA7}"/>
              </a:ext>
            </a:extLst>
          </p:cNvPr>
          <p:cNvSpPr>
            <a:spLocks noGrp="1"/>
          </p:cNvSpPr>
          <p:nvPr>
            <p:ph idx="1"/>
          </p:nvPr>
        </p:nvSpPr>
        <p:spPr>
          <a:xfrm>
            <a:off x="0" y="1844822"/>
            <a:ext cx="7390556" cy="4248473"/>
          </a:xfrm>
        </p:spPr>
        <p:txBody>
          <a:bodyPr>
            <a:noAutofit/>
          </a:bodyPr>
          <a:lstStyle/>
          <a:p>
            <a:pPr marL="0" indent="0">
              <a:lnSpc>
                <a:spcPct val="150000"/>
              </a:lnSpc>
              <a:buNone/>
            </a:pPr>
            <a:r>
              <a:rPr lang="en-US" sz="2000" dirty="0">
                <a:latin typeface="Arial" panose="020B0604020202020204" pitchFamily="34" charset="0"/>
                <a:cs typeface="Arial" panose="020B0604020202020204" pitchFamily="34" charset="0"/>
              </a:rPr>
              <a:t>Air pollution is a major global health issue, responsible for around 6.7 million deaths annually. One of the most important pollutants is particulate matter, which exists mainly as PM10 and PM2.5 </a:t>
            </a:r>
            <a:r>
              <a:rPr lang="en-US" sz="2000" i="1" dirty="0">
                <a:latin typeface="Arial" panose="020B0604020202020204" pitchFamily="34" charset="0"/>
                <a:cs typeface="Arial" panose="020B0604020202020204" pitchFamily="34" charset="0"/>
              </a:rPr>
              <a:t>(WHO, 2023</a:t>
            </a:r>
            <a:r>
              <a:rPr lang="en-US" sz="2000" dirty="0">
                <a:latin typeface="Arial" panose="020B0604020202020204" pitchFamily="34" charset="0"/>
                <a:cs typeface="Arial" panose="020B0604020202020204" pitchFamily="34" charset="0"/>
              </a:rPr>
              <a:t>). </a:t>
            </a:r>
          </a:p>
          <a:p>
            <a:pPr marL="0" indent="0">
              <a:lnSpc>
                <a:spcPct val="150000"/>
              </a:lnSpc>
              <a:buNone/>
            </a:pPr>
            <a:r>
              <a:rPr lang="en-US" sz="2000" dirty="0">
                <a:latin typeface="Arial" panose="020B0604020202020204" pitchFamily="34" charset="0"/>
                <a:cs typeface="Arial" panose="020B0604020202020204" pitchFamily="34" charset="0"/>
              </a:rPr>
              <a:t>The key difference is their size, with PM2.5 being smaller and more dangerous because it can penetrate deeper into the lungs. Based on this, this study focuses on measuring particulate matter levels across 10 sampling points in Salford University.</a:t>
            </a:r>
          </a:p>
        </p:txBody>
      </p:sp>
      <p:pic>
        <p:nvPicPr>
          <p:cNvPr id="8" name="Picture 7">
            <a:extLst>
              <a:ext uri="{FF2B5EF4-FFF2-40B4-BE49-F238E27FC236}">
                <a16:creationId xmlns:a16="http://schemas.microsoft.com/office/drawing/2014/main" id="{E2C326D7-4C71-4CA7-9DFE-1ED65FCFBF00}"/>
              </a:ext>
            </a:extLst>
          </p:cNvPr>
          <p:cNvPicPr>
            <a:picLocks noChangeAspect="1"/>
          </p:cNvPicPr>
          <p:nvPr/>
        </p:nvPicPr>
        <p:blipFill>
          <a:blip r:embed="rId2"/>
          <a:stretch>
            <a:fillRect/>
          </a:stretch>
        </p:blipFill>
        <p:spPr>
          <a:xfrm>
            <a:off x="7462564" y="1916832"/>
            <a:ext cx="4559548" cy="3464892"/>
          </a:xfrm>
          <a:prstGeom prst="rect">
            <a:avLst/>
          </a:prstGeom>
        </p:spPr>
      </p:pic>
      <p:sp>
        <p:nvSpPr>
          <p:cNvPr id="9" name="TextBox 8">
            <a:extLst>
              <a:ext uri="{FF2B5EF4-FFF2-40B4-BE49-F238E27FC236}">
                <a16:creationId xmlns:a16="http://schemas.microsoft.com/office/drawing/2014/main" id="{75104EBC-A673-424D-9AB3-0C08241F6EE2}"/>
              </a:ext>
            </a:extLst>
          </p:cNvPr>
          <p:cNvSpPr txBox="1"/>
          <p:nvPr/>
        </p:nvSpPr>
        <p:spPr>
          <a:xfrm>
            <a:off x="7534572" y="5445225"/>
            <a:ext cx="4320480" cy="576064"/>
          </a:xfrm>
          <a:prstGeom prst="rect">
            <a:avLst/>
          </a:prstGeom>
          <a:noFill/>
        </p:spPr>
        <p:txBody>
          <a:bodyPr wrap="square" rtlCol="0">
            <a:noAutofit/>
          </a:bodyPr>
          <a:lstStyle/>
          <a:p>
            <a:pPr algn="ctr"/>
            <a:r>
              <a:rPr lang="en-US" i="1" dirty="0">
                <a:latin typeface="Arial" panose="020B0604020202020204" pitchFamily="34" charset="0"/>
                <a:cs typeface="Arial" panose="020B0604020202020204" pitchFamily="34" charset="0"/>
              </a:rPr>
              <a:t>Figure 1: Comparison of PM particles to a human hair (CAP, 2023).</a:t>
            </a:r>
            <a:endParaRPr lang="en-AE"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0616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4727B-0EC7-451C-A03B-E24C4975E11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Key Variables &amp; Their Relevance</a:t>
            </a:r>
            <a:endParaRPr lang="en-AE"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9B4A281-6937-4374-9688-932C8DC8B42C}"/>
              </a:ext>
            </a:extLst>
          </p:cNvPr>
          <p:cNvSpPr>
            <a:spLocks noGrp="1"/>
          </p:cNvSpPr>
          <p:nvPr>
            <p:ph idx="1"/>
          </p:nvPr>
        </p:nvSpPr>
        <p:spPr>
          <a:xfrm>
            <a:off x="0" y="1853755"/>
            <a:ext cx="6022404" cy="4239542"/>
          </a:xfrm>
        </p:spPr>
        <p:txBody>
          <a:bodyPr>
            <a:normAutofit/>
          </a:bodyPr>
          <a:lstStyle/>
          <a:p>
            <a:pPr marL="0" indent="0">
              <a:lnSpc>
                <a:spcPct val="150000"/>
              </a:lnSpc>
              <a:buNone/>
            </a:pPr>
            <a:r>
              <a:rPr lang="en-US" sz="1800" b="1" dirty="0">
                <a:latin typeface="Arial" panose="020B0604020202020204" pitchFamily="34" charset="0"/>
                <a:cs typeface="Arial" panose="020B0604020202020204" pitchFamily="34" charset="0"/>
              </a:rPr>
              <a:t>EXPLANATION:</a:t>
            </a:r>
          </a:p>
          <a:p>
            <a:pPr>
              <a:lnSpc>
                <a:spcPct val="150000"/>
              </a:lnSpc>
            </a:pPr>
            <a:r>
              <a:rPr lang="en-US" sz="1700" dirty="0">
                <a:latin typeface="Arial" panose="020B0604020202020204" pitchFamily="34" charset="0"/>
                <a:cs typeface="Arial" panose="020B0604020202020204" pitchFamily="34" charset="0"/>
              </a:rPr>
              <a:t>PM2.5: Fine particles that penetrate deep into the lungs, posing significant health risk</a:t>
            </a:r>
          </a:p>
          <a:p>
            <a:pPr>
              <a:lnSpc>
                <a:spcPct val="150000"/>
              </a:lnSpc>
            </a:pPr>
            <a:r>
              <a:rPr lang="en-US" sz="1700" dirty="0">
                <a:latin typeface="Arial" panose="020B0604020202020204" pitchFamily="34" charset="0"/>
                <a:cs typeface="Arial" panose="020B0604020202020204" pitchFamily="34" charset="0"/>
              </a:rPr>
              <a:t>PM10: Coarser particles that affect air quality and respiratory health but larger size than PM2.5</a:t>
            </a:r>
          </a:p>
          <a:p>
            <a:pPr>
              <a:lnSpc>
                <a:spcPct val="150000"/>
              </a:lnSpc>
            </a:pPr>
            <a:r>
              <a:rPr lang="en-US" sz="1700" dirty="0">
                <a:latin typeface="Arial" panose="020B0604020202020204" pitchFamily="34" charset="0"/>
                <a:cs typeface="Arial" panose="020B0604020202020204" pitchFamily="34" charset="0"/>
              </a:rPr>
              <a:t>Co2: Indicator of human activity and ventilation levels</a:t>
            </a:r>
          </a:p>
          <a:p>
            <a:pPr>
              <a:lnSpc>
                <a:spcPct val="150000"/>
              </a:lnSpc>
            </a:pPr>
            <a:r>
              <a:rPr lang="en-US" sz="1700" dirty="0">
                <a:latin typeface="Arial" panose="020B0604020202020204" pitchFamily="34" charset="0"/>
                <a:cs typeface="Arial" panose="020B0604020202020204" pitchFamily="34" charset="0"/>
              </a:rPr>
              <a:t>Temperature &amp; Humidity: Environmental factors influencing pollutant dispersion</a:t>
            </a:r>
          </a:p>
          <a:p>
            <a:pPr>
              <a:lnSpc>
                <a:spcPct val="150000"/>
              </a:lnSpc>
            </a:pPr>
            <a:endParaRPr lang="en-US" dirty="0">
              <a:latin typeface="Arial" panose="020B0604020202020204" pitchFamily="34" charset="0"/>
              <a:cs typeface="Arial" panose="020B0604020202020204" pitchFamily="34" charset="0"/>
            </a:endParaRPr>
          </a:p>
          <a:p>
            <a:pPr>
              <a:lnSpc>
                <a:spcPct val="150000"/>
              </a:lnSpc>
            </a:pPr>
            <a:endParaRPr lang="en-AE"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A74A7BC-F53D-4E42-99F6-C31E6A9FDB46}"/>
              </a:ext>
            </a:extLst>
          </p:cNvPr>
          <p:cNvSpPr txBox="1"/>
          <p:nvPr/>
        </p:nvSpPr>
        <p:spPr>
          <a:xfrm>
            <a:off x="6238428" y="1772816"/>
            <a:ext cx="5950397" cy="4320481"/>
          </a:xfrm>
          <a:prstGeom prst="rect">
            <a:avLst/>
          </a:prstGeom>
          <a:noFill/>
        </p:spPr>
        <p:txBody>
          <a:bodyPr wrap="square" rtlCol="0">
            <a:noAutofit/>
          </a:bodyPr>
          <a:lstStyle/>
          <a:p>
            <a:pPr>
              <a:lnSpc>
                <a:spcPct val="150000"/>
              </a:lnSpc>
            </a:pPr>
            <a:r>
              <a:rPr lang="en-US" b="1" dirty="0">
                <a:latin typeface="Arial" panose="020B0604020202020204" pitchFamily="34" charset="0"/>
                <a:cs typeface="Arial" panose="020B0604020202020204" pitchFamily="34" charset="0"/>
              </a:rPr>
              <a:t>SOURCES OF PM:</a:t>
            </a:r>
          </a:p>
          <a:p>
            <a:pPr marL="285750" indent="-285750">
              <a:lnSpc>
                <a:spcPct val="150000"/>
              </a:lnSpc>
              <a:buFont typeface="Arial" panose="020B0604020202020204" pitchFamily="34" charset="0"/>
              <a:buChar char="•"/>
            </a:pPr>
            <a:r>
              <a:rPr lang="en-US" sz="1700" dirty="0">
                <a:latin typeface="Arial" panose="020B0604020202020204" pitchFamily="34" charset="0"/>
                <a:cs typeface="Arial" panose="020B0604020202020204" pitchFamily="34" charset="0"/>
              </a:rPr>
              <a:t>Vehicle emissions (exhaust, brake &amp; tire wear)</a:t>
            </a:r>
          </a:p>
          <a:p>
            <a:pPr marL="285750" indent="-285750">
              <a:lnSpc>
                <a:spcPct val="150000"/>
              </a:lnSpc>
              <a:buFont typeface="Arial" panose="020B0604020202020204" pitchFamily="34" charset="0"/>
              <a:buChar char="•"/>
            </a:pPr>
            <a:r>
              <a:rPr lang="en-US" sz="1700" dirty="0">
                <a:latin typeface="Arial" panose="020B0604020202020204" pitchFamily="34" charset="0"/>
                <a:cs typeface="Arial" panose="020B0604020202020204" pitchFamily="34" charset="0"/>
              </a:rPr>
              <a:t>Road dust resuspension</a:t>
            </a:r>
          </a:p>
          <a:p>
            <a:pPr marL="285750" indent="-285750">
              <a:lnSpc>
                <a:spcPct val="150000"/>
              </a:lnSpc>
              <a:buFont typeface="Arial" panose="020B0604020202020204" pitchFamily="34" charset="0"/>
              <a:buChar char="•"/>
            </a:pPr>
            <a:r>
              <a:rPr lang="en-US" sz="1700" dirty="0">
                <a:latin typeface="Arial" panose="020B0604020202020204" pitchFamily="34" charset="0"/>
                <a:cs typeface="Arial" panose="020B0604020202020204" pitchFamily="34" charset="0"/>
              </a:rPr>
              <a:t>Construction activities</a:t>
            </a:r>
          </a:p>
          <a:p>
            <a:pPr marL="285750" indent="-285750">
              <a:lnSpc>
                <a:spcPct val="150000"/>
              </a:lnSpc>
              <a:buFont typeface="Arial" panose="020B0604020202020204" pitchFamily="34" charset="0"/>
              <a:buChar char="•"/>
            </a:pPr>
            <a:r>
              <a:rPr lang="en-US" sz="1700" dirty="0">
                <a:latin typeface="Arial" panose="020B0604020202020204" pitchFamily="34" charset="0"/>
                <a:cs typeface="Arial" panose="020B0604020202020204" pitchFamily="34" charset="0"/>
              </a:rPr>
              <a:t>Industrial emissions</a:t>
            </a:r>
          </a:p>
          <a:p>
            <a:pPr marL="285750" indent="-285750">
              <a:lnSpc>
                <a:spcPct val="150000"/>
              </a:lnSpc>
              <a:buFont typeface="Arial" panose="020B0604020202020204" pitchFamily="34" charset="0"/>
              <a:buChar char="•"/>
            </a:pPr>
            <a:r>
              <a:rPr lang="en-US" sz="1700" dirty="0">
                <a:latin typeface="Arial" panose="020B0604020202020204" pitchFamily="34" charset="0"/>
                <a:cs typeface="Arial" panose="020B0604020202020204" pitchFamily="34" charset="0"/>
              </a:rPr>
              <a:t>Biomass burning (wood, waste, bush burning)</a:t>
            </a:r>
          </a:p>
          <a:p>
            <a:pPr marL="285750" indent="-285750">
              <a:lnSpc>
                <a:spcPct val="150000"/>
              </a:lnSpc>
              <a:buFont typeface="Arial" panose="020B0604020202020204" pitchFamily="34" charset="0"/>
              <a:buChar char="•"/>
            </a:pPr>
            <a:r>
              <a:rPr lang="en-US" sz="1700" dirty="0">
                <a:latin typeface="Arial" panose="020B0604020202020204" pitchFamily="34" charset="0"/>
                <a:cs typeface="Arial" panose="020B0604020202020204" pitchFamily="34" charset="0"/>
              </a:rPr>
              <a:t>Cooking activities</a:t>
            </a:r>
          </a:p>
          <a:p>
            <a:pPr marL="285750" indent="-285750">
              <a:lnSpc>
                <a:spcPct val="150000"/>
              </a:lnSpc>
              <a:buFont typeface="Arial" panose="020B0604020202020204" pitchFamily="34" charset="0"/>
              <a:buChar char="•"/>
            </a:pPr>
            <a:r>
              <a:rPr lang="en-US" sz="1700" dirty="0">
                <a:latin typeface="Arial" panose="020B0604020202020204" pitchFamily="34" charset="0"/>
                <a:cs typeface="Arial" panose="020B0604020202020204" pitchFamily="34" charset="0"/>
              </a:rPr>
              <a:t>Cigarette smoke</a:t>
            </a:r>
          </a:p>
          <a:p>
            <a:pPr marL="285750" indent="-285750">
              <a:lnSpc>
                <a:spcPct val="150000"/>
              </a:lnSpc>
              <a:buFont typeface="Arial" panose="020B0604020202020204" pitchFamily="34" charset="0"/>
              <a:buChar char="•"/>
            </a:pPr>
            <a:r>
              <a:rPr lang="en-US" sz="1700" dirty="0">
                <a:latin typeface="Arial" panose="020B0604020202020204" pitchFamily="34" charset="0"/>
                <a:cs typeface="Arial" panose="020B0604020202020204" pitchFamily="34" charset="0"/>
              </a:rPr>
              <a:t>Natural sources (pollen, spores, sea salt)</a:t>
            </a:r>
          </a:p>
          <a:p>
            <a:pPr marL="285750" indent="-285750">
              <a:lnSpc>
                <a:spcPct val="150000"/>
              </a:lnSpc>
              <a:buFont typeface="Arial" panose="020B0604020202020204" pitchFamily="34" charset="0"/>
              <a:buChar char="•"/>
            </a:pPr>
            <a:r>
              <a:rPr lang="en-US" sz="1700" dirty="0">
                <a:latin typeface="Arial" panose="020B0604020202020204" pitchFamily="34" charset="0"/>
                <a:cs typeface="Arial" panose="020B0604020202020204" pitchFamily="34" charset="0"/>
              </a:rPr>
              <a:t>Secondary formation from atmospheric gases (SO₂, NOx, NH₃, VOCs)</a:t>
            </a:r>
            <a:endParaRPr lang="en-AE" sz="1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7804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8840" y="620688"/>
            <a:ext cx="9603134" cy="1152128"/>
          </a:xfrm>
        </p:spPr>
        <p:txBody>
          <a:bodyPr>
            <a:normAutofit fontScale="90000"/>
          </a:bodyPr>
          <a:lstStyle/>
          <a:p>
            <a:r>
              <a:rPr lang="en-US" dirty="0">
                <a:latin typeface="Arial" panose="020B0604020202020204" pitchFamily="34" charset="0"/>
                <a:cs typeface="Arial" panose="020B0604020202020204" pitchFamily="34" charset="0"/>
              </a:rPr>
              <a:t>Methodology and Sampling Strategy:</a:t>
            </a: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Data Collection method</a:t>
            </a:r>
            <a:endParaRPr lang="en-US" sz="3100" dirty="0">
              <a:latin typeface="Arial" panose="020B0604020202020204" pitchFamily="34" charset="0"/>
              <a:cs typeface="Arial" panose="020B0604020202020204" pitchFamily="34" charset="0"/>
            </a:endParaRPr>
          </a:p>
        </p:txBody>
      </p:sp>
      <p:sp>
        <p:nvSpPr>
          <p:cNvPr id="5" name="Content Placeholder 4"/>
          <p:cNvSpPr>
            <a:spLocks noGrp="1"/>
          </p:cNvSpPr>
          <p:nvPr>
            <p:ph sz="half" idx="1"/>
          </p:nvPr>
        </p:nvSpPr>
        <p:spPr>
          <a:xfrm>
            <a:off x="45741" y="1700808"/>
            <a:ext cx="6048671" cy="5157192"/>
          </a:xfrm>
        </p:spPr>
        <p:txBody>
          <a:bodyPr>
            <a:normAutofit/>
          </a:bodyPr>
          <a:lstStyle/>
          <a:p>
            <a:pPr>
              <a:lnSpc>
                <a:spcPct val="150000"/>
              </a:lnSpc>
            </a:pPr>
            <a:r>
              <a:rPr lang="en-US" sz="1800" dirty="0">
                <a:latin typeface="Arial" panose="020B0604020202020204" pitchFamily="34" charset="0"/>
                <a:cs typeface="Arial" panose="020B0604020202020204" pitchFamily="34" charset="0"/>
              </a:rPr>
              <a:t>Field based air quality monitoring conducted at Salford University</a:t>
            </a:r>
          </a:p>
          <a:p>
            <a:pPr>
              <a:lnSpc>
                <a:spcPct val="150000"/>
              </a:lnSpc>
            </a:pPr>
            <a:r>
              <a:rPr lang="en-US" sz="1800" dirty="0">
                <a:latin typeface="Arial" panose="020B0604020202020204" pitchFamily="34" charset="0"/>
                <a:cs typeface="Arial" panose="020B0604020202020204" pitchFamily="34" charset="0"/>
              </a:rPr>
              <a:t>Data collected from 10 sampling locations across different environments</a:t>
            </a:r>
          </a:p>
          <a:p>
            <a:pPr>
              <a:lnSpc>
                <a:spcPct val="150000"/>
              </a:lnSpc>
            </a:pPr>
            <a:r>
              <a:rPr lang="en-US" sz="1800" dirty="0">
                <a:latin typeface="Arial" panose="020B0604020202020204" pitchFamily="34" charset="0"/>
                <a:cs typeface="Arial" panose="020B0604020202020204" pitchFamily="34" charset="0"/>
              </a:rPr>
              <a:t>Parameters measured: PM2.5, PM10, CO₂, temperature, humidity</a:t>
            </a:r>
          </a:p>
          <a:p>
            <a:pPr>
              <a:lnSpc>
                <a:spcPct val="150000"/>
              </a:lnSpc>
            </a:pPr>
            <a:r>
              <a:rPr lang="en-US" sz="1800" dirty="0">
                <a:latin typeface="Arial" panose="020B0604020202020204" pitchFamily="34" charset="0"/>
                <a:cs typeface="Arial" panose="020B0604020202020204" pitchFamily="34" charset="0"/>
              </a:rPr>
              <a:t>Handheld monitors used: </a:t>
            </a:r>
            <a:r>
              <a:rPr lang="en-US" sz="1800" dirty="0" err="1">
                <a:latin typeface="Arial" panose="020B0604020202020204" pitchFamily="34" charset="0"/>
                <a:cs typeface="Arial" panose="020B0604020202020204" pitchFamily="34" charset="0"/>
              </a:rPr>
              <a:t>Temtop</a:t>
            </a:r>
            <a:r>
              <a:rPr lang="en-US" sz="1800" dirty="0">
                <a:latin typeface="Arial" panose="020B0604020202020204" pitchFamily="34" charset="0"/>
                <a:cs typeface="Arial" panose="020B0604020202020204" pitchFamily="34" charset="0"/>
              </a:rPr>
              <a:t> M2000 and Airing-2000 Series</a:t>
            </a:r>
          </a:p>
          <a:p>
            <a:pPr>
              <a:lnSpc>
                <a:spcPct val="150000"/>
              </a:lnSpc>
            </a:pPr>
            <a:r>
              <a:rPr lang="en-US" sz="1800" dirty="0">
                <a:latin typeface="Arial" panose="020B0604020202020204" pitchFamily="34" charset="0"/>
                <a:cs typeface="Arial" panose="020B0604020202020204" pitchFamily="34" charset="0"/>
              </a:rPr>
              <a:t>Each location sampled for 15 minutes</a:t>
            </a:r>
          </a:p>
        </p:txBody>
      </p:sp>
      <p:pic>
        <p:nvPicPr>
          <p:cNvPr id="7" name="Picture 6">
            <a:extLst>
              <a:ext uri="{FF2B5EF4-FFF2-40B4-BE49-F238E27FC236}">
                <a16:creationId xmlns:a16="http://schemas.microsoft.com/office/drawing/2014/main" id="{D3AA9D43-A891-768C-3DB6-7A48B61A6F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26460" y="2030412"/>
            <a:ext cx="2304256" cy="180788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7F67C1A-7A0A-4E8E-B3B0-F22842BC6E04}"/>
              </a:ext>
            </a:extLst>
          </p:cNvPr>
          <p:cNvSpPr txBox="1"/>
          <p:nvPr/>
        </p:nvSpPr>
        <p:spPr>
          <a:xfrm>
            <a:off x="5640644" y="3821140"/>
            <a:ext cx="3960440" cy="400110"/>
          </a:xfrm>
          <a:prstGeom prst="rect">
            <a:avLst/>
          </a:prstGeom>
          <a:noFill/>
        </p:spPr>
        <p:txBody>
          <a:bodyPr wrap="square" rtlCol="0">
            <a:spAutoFit/>
          </a:bodyPr>
          <a:lstStyle/>
          <a:p>
            <a:pPr algn="ctr"/>
            <a:r>
              <a:rPr lang="en-US" sz="2000" dirty="0" err="1">
                <a:latin typeface="Arial" panose="020B0604020202020204" pitchFamily="34" charset="0"/>
                <a:cs typeface="Arial" panose="020B0604020202020204" pitchFamily="34" charset="0"/>
              </a:rPr>
              <a:t>Temtop</a:t>
            </a:r>
            <a:r>
              <a:rPr lang="en-US" sz="2000" dirty="0">
                <a:latin typeface="Arial" panose="020B0604020202020204" pitchFamily="34" charset="0"/>
                <a:cs typeface="Arial" panose="020B0604020202020204" pitchFamily="34" charset="0"/>
              </a:rPr>
              <a:t> M2000</a:t>
            </a:r>
            <a:endParaRPr lang="en-AE" sz="20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9DC899FC-263B-78E1-E991-78B9758633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62764" y="1996545"/>
            <a:ext cx="2736304" cy="182584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92CED49-870D-4C6E-BAE4-CB81F00BB7DB}"/>
              </a:ext>
            </a:extLst>
          </p:cNvPr>
          <p:cNvSpPr txBox="1"/>
          <p:nvPr/>
        </p:nvSpPr>
        <p:spPr>
          <a:xfrm>
            <a:off x="9046740" y="3789040"/>
            <a:ext cx="3384376" cy="400110"/>
          </a:xfrm>
          <a:prstGeom prst="rect">
            <a:avLst/>
          </a:prstGeom>
          <a:noFill/>
        </p:spPr>
        <p:txBody>
          <a:bodyPr wrap="square" rtlCol="0">
            <a:noAutofit/>
          </a:bodyPr>
          <a:lstStyle/>
          <a:p>
            <a:pPr algn="ctr"/>
            <a:r>
              <a:rPr lang="en-US" sz="2000" dirty="0" err="1">
                <a:latin typeface="Arial" panose="020B0604020202020204" pitchFamily="34" charset="0"/>
                <a:cs typeface="Arial" panose="020B0604020202020204" pitchFamily="34" charset="0"/>
              </a:rPr>
              <a:t>Temtop</a:t>
            </a:r>
            <a:r>
              <a:rPr lang="en-US" sz="2000" dirty="0">
                <a:latin typeface="Arial" panose="020B0604020202020204" pitchFamily="34" charset="0"/>
                <a:cs typeface="Arial" panose="020B0604020202020204" pitchFamily="34" charset="0"/>
              </a:rPr>
              <a:t> Airing-2000</a:t>
            </a:r>
            <a:endParaRPr lang="en-AE"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3661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8840" y="476672"/>
            <a:ext cx="9603134" cy="1387523"/>
          </a:xfrm>
        </p:spPr>
        <p:txBody>
          <a:bodyPr>
            <a:normAutofit/>
          </a:bodyPr>
          <a:lstStyle/>
          <a:p>
            <a:r>
              <a:rPr lang="en-US" sz="3200" dirty="0">
                <a:latin typeface="Arial" panose="020B0604020202020204" pitchFamily="34" charset="0"/>
                <a:cs typeface="Arial" panose="020B0604020202020204" pitchFamily="34" charset="0"/>
              </a:rPr>
              <a:t>Methodology and Sampling Strategy:</a:t>
            </a:r>
            <a:br>
              <a:rPr lang="en-US" sz="3200" dirty="0">
                <a:latin typeface="Arial" panose="020B0604020202020204" pitchFamily="34" charset="0"/>
                <a:cs typeface="Arial" panose="020B0604020202020204" pitchFamily="34" charset="0"/>
              </a:rPr>
            </a:br>
            <a:br>
              <a:rPr lang="en-US" sz="3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Data Preprocessing and Analysis</a:t>
            </a:r>
          </a:p>
        </p:txBody>
      </p:sp>
      <p:sp>
        <p:nvSpPr>
          <p:cNvPr id="5" name="Content Placeholder 4"/>
          <p:cNvSpPr>
            <a:spLocks noGrp="1"/>
          </p:cNvSpPr>
          <p:nvPr>
            <p:ph sz="half" idx="1"/>
          </p:nvPr>
        </p:nvSpPr>
        <p:spPr>
          <a:xfrm>
            <a:off x="2" y="1700808"/>
            <a:ext cx="6382442" cy="5157192"/>
          </a:xfrm>
        </p:spPr>
        <p:txBody>
          <a:bodyPr>
            <a:normAutofit/>
          </a:bodyPr>
          <a:lstStyle/>
          <a:p>
            <a:pPr>
              <a:lnSpc>
                <a:spcPct val="150000"/>
              </a:lnSpc>
            </a:pPr>
            <a:r>
              <a:rPr lang="en-US" sz="1800" dirty="0">
                <a:latin typeface="Arial" panose="020B0604020202020204" pitchFamily="34" charset="0"/>
                <a:cs typeface="Arial" panose="020B0604020202020204" pitchFamily="34" charset="0"/>
              </a:rPr>
              <a:t>Data processed and </a:t>
            </a:r>
            <a:r>
              <a:rPr lang="en-US" sz="1800" dirty="0" err="1">
                <a:latin typeface="Arial" panose="020B0604020202020204" pitchFamily="34" charset="0"/>
                <a:cs typeface="Arial" panose="020B0604020202020204" pitchFamily="34" charset="0"/>
              </a:rPr>
              <a:t>analysed</a:t>
            </a:r>
            <a:r>
              <a:rPr lang="en-US" sz="1800" dirty="0">
                <a:latin typeface="Arial" panose="020B0604020202020204" pitchFamily="34" charset="0"/>
                <a:cs typeface="Arial" panose="020B0604020202020204" pitchFamily="34" charset="0"/>
              </a:rPr>
              <a:t> using Python and it libraries</a:t>
            </a:r>
          </a:p>
          <a:p>
            <a:pPr>
              <a:lnSpc>
                <a:spcPct val="150000"/>
              </a:lnSpc>
            </a:pPr>
            <a:r>
              <a:rPr lang="en-US" sz="1800" dirty="0">
                <a:latin typeface="Arial" panose="020B0604020202020204" pitchFamily="34" charset="0"/>
                <a:cs typeface="Arial" panose="020B0604020202020204" pitchFamily="34" charset="0"/>
              </a:rPr>
              <a:t>Data cleaning performed to ensure consistency and accuracy</a:t>
            </a:r>
          </a:p>
          <a:p>
            <a:pPr>
              <a:lnSpc>
                <a:spcPct val="150000"/>
              </a:lnSpc>
            </a:pPr>
            <a:r>
              <a:rPr lang="en-US" sz="1800" dirty="0">
                <a:latin typeface="Arial" panose="020B0604020202020204" pitchFamily="34" charset="0"/>
                <a:cs typeface="Arial" panose="020B0604020202020204" pitchFamily="34" charset="0"/>
              </a:rPr>
              <a:t>Descriptive statistics used to </a:t>
            </a:r>
            <a:r>
              <a:rPr lang="en-US" sz="1800" dirty="0" err="1">
                <a:latin typeface="Arial" panose="020B0604020202020204" pitchFamily="34" charset="0"/>
                <a:cs typeface="Arial" panose="020B0604020202020204" pitchFamily="34" charset="0"/>
              </a:rPr>
              <a:t>summarise</a:t>
            </a:r>
            <a:r>
              <a:rPr lang="en-US" sz="1800" dirty="0">
                <a:latin typeface="Arial" panose="020B0604020202020204" pitchFamily="34" charset="0"/>
                <a:cs typeface="Arial" panose="020B0604020202020204" pitchFamily="34" charset="0"/>
              </a:rPr>
              <a:t> pollutant levels</a:t>
            </a:r>
          </a:p>
          <a:p>
            <a:pPr>
              <a:lnSpc>
                <a:spcPct val="150000"/>
              </a:lnSpc>
            </a:pPr>
            <a:r>
              <a:rPr lang="en-US" sz="1800" dirty="0" err="1">
                <a:latin typeface="Arial" panose="020B0604020202020204" pitchFamily="34" charset="0"/>
                <a:cs typeface="Arial" panose="020B0604020202020204" pitchFamily="34" charset="0"/>
              </a:rPr>
              <a:t>Visualisation</a:t>
            </a:r>
            <a:r>
              <a:rPr lang="en-US" sz="1800" dirty="0">
                <a:latin typeface="Arial" panose="020B0604020202020204" pitchFamily="34" charset="0"/>
                <a:cs typeface="Arial" panose="020B0604020202020204" pitchFamily="34" charset="0"/>
              </a:rPr>
              <a:t> techniques (bar charts, scatter plots) used to identify patterns</a:t>
            </a:r>
          </a:p>
          <a:p>
            <a:pPr>
              <a:lnSpc>
                <a:spcPct val="150000"/>
              </a:lnSpc>
            </a:pPr>
            <a:r>
              <a:rPr lang="en-US" sz="1800" dirty="0">
                <a:latin typeface="Arial" panose="020B0604020202020204" pitchFamily="34" charset="0"/>
                <a:cs typeface="Arial" panose="020B0604020202020204" pitchFamily="34" charset="0"/>
              </a:rPr>
              <a:t>Correlation and map plot analyses were conducted to explore relationships and identify hotspots.</a:t>
            </a:r>
          </a:p>
        </p:txBody>
      </p:sp>
      <p:pic>
        <p:nvPicPr>
          <p:cNvPr id="11" name="Picture 10">
            <a:extLst>
              <a:ext uri="{FF2B5EF4-FFF2-40B4-BE49-F238E27FC236}">
                <a16:creationId xmlns:a16="http://schemas.microsoft.com/office/drawing/2014/main" id="{8BAD0EE0-90B8-4B66-8FD2-6424D8007BC7}"/>
              </a:ext>
            </a:extLst>
          </p:cNvPr>
          <p:cNvPicPr>
            <a:picLocks noChangeAspect="1"/>
          </p:cNvPicPr>
          <p:nvPr/>
        </p:nvPicPr>
        <p:blipFill>
          <a:blip r:embed="rId2"/>
          <a:stretch>
            <a:fillRect/>
          </a:stretch>
        </p:blipFill>
        <p:spPr>
          <a:xfrm>
            <a:off x="6310436" y="1864195"/>
            <a:ext cx="5832648" cy="3725045"/>
          </a:xfrm>
          <a:prstGeom prst="rect">
            <a:avLst/>
          </a:prstGeom>
        </p:spPr>
      </p:pic>
      <p:sp>
        <p:nvSpPr>
          <p:cNvPr id="12" name="TextBox 11">
            <a:extLst>
              <a:ext uri="{FF2B5EF4-FFF2-40B4-BE49-F238E27FC236}">
                <a16:creationId xmlns:a16="http://schemas.microsoft.com/office/drawing/2014/main" id="{83321589-4ED7-4669-96B4-F2FA95E341B0}"/>
              </a:ext>
            </a:extLst>
          </p:cNvPr>
          <p:cNvSpPr txBox="1"/>
          <p:nvPr/>
        </p:nvSpPr>
        <p:spPr>
          <a:xfrm>
            <a:off x="6166420" y="5517232"/>
            <a:ext cx="6120680" cy="657364"/>
          </a:xfrm>
          <a:prstGeom prst="rect">
            <a:avLst/>
          </a:prstGeom>
          <a:noFill/>
        </p:spPr>
        <p:txBody>
          <a:bodyPr wrap="square" rtlCol="0">
            <a:noAutofit/>
          </a:bodyPr>
          <a:lstStyle/>
          <a:p>
            <a:pPr algn="ctr"/>
            <a:r>
              <a:rPr lang="en-US" dirty="0">
                <a:latin typeface="Arial" panose="020B0604020202020204" pitchFamily="34" charset="0"/>
                <a:cs typeface="Arial" panose="020B0604020202020204" pitchFamily="34" charset="0"/>
              </a:rPr>
              <a:t>Average PM’s and Humidity Grouped by each Sampling Point.</a:t>
            </a:r>
            <a:endParaRPr lang="en-A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3585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46815" y="548680"/>
            <a:ext cx="9605159" cy="1311803"/>
          </a:xfrm>
        </p:spPr>
        <p:txBody>
          <a:bodyPr>
            <a:normAutofit fontScale="90000"/>
          </a:bodyPr>
          <a:lstStyle/>
          <a:p>
            <a:r>
              <a:rPr lang="en-US" dirty="0">
                <a:latin typeface="Arial" panose="020B0604020202020204" pitchFamily="34" charset="0"/>
                <a:cs typeface="Arial" panose="020B0604020202020204" pitchFamily="34" charset="0"/>
              </a:rPr>
              <a:t>Statistical findings</a:t>
            </a: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PM2.5 vs global safety standard</a:t>
            </a:r>
          </a:p>
        </p:txBody>
      </p:sp>
      <p:sp>
        <p:nvSpPr>
          <p:cNvPr id="8" name="TextBox 7">
            <a:extLst>
              <a:ext uri="{FF2B5EF4-FFF2-40B4-BE49-F238E27FC236}">
                <a16:creationId xmlns:a16="http://schemas.microsoft.com/office/drawing/2014/main" id="{C7804F2D-68DB-4635-B26D-2D32352823D7}"/>
              </a:ext>
            </a:extLst>
          </p:cNvPr>
          <p:cNvSpPr txBox="1"/>
          <p:nvPr/>
        </p:nvSpPr>
        <p:spPr>
          <a:xfrm flipH="1">
            <a:off x="45738" y="1916832"/>
            <a:ext cx="4896545" cy="4137004"/>
          </a:xfrm>
          <a:prstGeom prst="rect">
            <a:avLst/>
          </a:prstGeom>
          <a:noFill/>
        </p:spPr>
        <p:txBody>
          <a:bodyPr wrap="square" rtlCol="0">
            <a:noAutofit/>
          </a:bodyPr>
          <a:lstStyle/>
          <a:p>
            <a:pPr>
              <a:lnSpc>
                <a:spcPct val="150000"/>
              </a:lnSpc>
            </a:pPr>
            <a:r>
              <a:rPr lang="en-GB" sz="1800" dirty="0">
                <a:effectLst/>
                <a:latin typeface="Arial" panose="020B0604020202020204" pitchFamily="34" charset="0"/>
                <a:ea typeface="Aptos"/>
                <a:cs typeface="Arial" panose="020B0604020202020204" pitchFamily="34" charset="0"/>
              </a:rPr>
              <a:t>More recently, there have been changes to UK statutory standards and WHO guidelines for PM2.5, with the UK annual limit being amended to 20 µg/m3 from 2020, while the WHO guideline has been reduced further to 5 µg/m3. The UK has set a target annual limit for PM2.5</a:t>
            </a:r>
            <a:r>
              <a:rPr lang="en-GB" sz="1800" baseline="-25000" dirty="0">
                <a:effectLst/>
                <a:latin typeface="Arial" panose="020B0604020202020204" pitchFamily="34" charset="0"/>
                <a:ea typeface="Aptos"/>
                <a:cs typeface="Arial" panose="020B0604020202020204" pitchFamily="34" charset="0"/>
              </a:rPr>
              <a:t> </a:t>
            </a:r>
            <a:r>
              <a:rPr lang="en-GB" sz="1800" dirty="0">
                <a:effectLst/>
                <a:latin typeface="Arial" panose="020B0604020202020204" pitchFamily="34" charset="0"/>
                <a:ea typeface="Aptos"/>
                <a:cs typeface="Arial" panose="020B0604020202020204" pitchFamily="34" charset="0"/>
              </a:rPr>
              <a:t>of 10 µg/m3</a:t>
            </a:r>
            <a:r>
              <a:rPr lang="en-GB" sz="1800" baseline="30000" dirty="0">
                <a:effectLst/>
                <a:latin typeface="Arial" panose="020B0604020202020204" pitchFamily="34" charset="0"/>
                <a:ea typeface="Aptos"/>
                <a:cs typeface="Arial" panose="020B0604020202020204" pitchFamily="34" charset="0"/>
              </a:rPr>
              <a:t> </a:t>
            </a:r>
            <a:r>
              <a:rPr lang="en-GB" sz="1800" dirty="0">
                <a:effectLst/>
                <a:latin typeface="Arial" panose="020B0604020202020204" pitchFamily="34" charset="0"/>
                <a:ea typeface="Aptos"/>
                <a:cs typeface="Arial" panose="020B0604020202020204" pitchFamily="34" charset="0"/>
              </a:rPr>
              <a:t>to be achieved by 2040 (under provisions of the Environment Act 2021).</a:t>
            </a:r>
            <a:endParaRPr lang="en-AE" sz="1800" dirty="0">
              <a:effectLst/>
              <a:latin typeface="Arial" panose="020B0604020202020204" pitchFamily="34" charset="0"/>
              <a:ea typeface="Aptos"/>
              <a:cs typeface="Arial" panose="020B0604020202020204" pitchFamily="34" charset="0"/>
            </a:endParaRPr>
          </a:p>
          <a:p>
            <a:endParaRPr lang="en-AE"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4BE11859-9A78-4E25-BA21-496D8B5E5595}"/>
              </a:ext>
            </a:extLst>
          </p:cNvPr>
          <p:cNvPicPr>
            <a:picLocks noChangeAspect="1"/>
          </p:cNvPicPr>
          <p:nvPr/>
        </p:nvPicPr>
        <p:blipFill>
          <a:blip r:embed="rId3"/>
          <a:stretch>
            <a:fillRect/>
          </a:stretch>
        </p:blipFill>
        <p:spPr>
          <a:xfrm>
            <a:off x="5374332" y="1916832"/>
            <a:ext cx="6696744" cy="3672408"/>
          </a:xfrm>
          <a:prstGeom prst="rect">
            <a:avLst/>
          </a:prstGeom>
        </p:spPr>
      </p:pic>
      <p:sp>
        <p:nvSpPr>
          <p:cNvPr id="13" name="TextBox 12">
            <a:extLst>
              <a:ext uri="{FF2B5EF4-FFF2-40B4-BE49-F238E27FC236}">
                <a16:creationId xmlns:a16="http://schemas.microsoft.com/office/drawing/2014/main" id="{4235B626-5224-4707-8605-180342B86B18}"/>
              </a:ext>
            </a:extLst>
          </p:cNvPr>
          <p:cNvSpPr txBox="1"/>
          <p:nvPr/>
        </p:nvSpPr>
        <p:spPr>
          <a:xfrm>
            <a:off x="5446340" y="5589240"/>
            <a:ext cx="6264696" cy="464596"/>
          </a:xfrm>
          <a:prstGeom prst="rect">
            <a:avLst/>
          </a:prstGeom>
          <a:noFill/>
        </p:spPr>
        <p:txBody>
          <a:bodyPr wrap="square" rtlCol="0">
            <a:noAutofit/>
          </a:bodyPr>
          <a:lstStyle/>
          <a:p>
            <a:pPr algn="ctr"/>
            <a:r>
              <a:rPr lang="en-US" dirty="0">
                <a:latin typeface="Arial" panose="020B0604020202020204" pitchFamily="34" charset="0"/>
                <a:cs typeface="Arial" panose="020B0604020202020204" pitchFamily="34" charset="0"/>
              </a:rPr>
              <a:t>PM2.5 vs EU and WHO Safety Standard</a:t>
            </a:r>
            <a:endParaRPr lang="en-A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8160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451202" y="260648"/>
            <a:ext cx="9600774" cy="1593107"/>
          </a:xfrm>
        </p:spPr>
        <p:txBody>
          <a:bodyPr/>
          <a:lstStyle/>
          <a:p>
            <a:r>
              <a:rPr lang="en-US" dirty="0">
                <a:latin typeface="Arial" panose="020B0604020202020204" pitchFamily="34" charset="0"/>
                <a:cs typeface="Arial" panose="020B0604020202020204" pitchFamily="34" charset="0"/>
              </a:rPr>
              <a:t>Statistical findings</a:t>
            </a:r>
            <a:br>
              <a:rPr lang="en-US" dirty="0"/>
            </a:br>
            <a:br>
              <a:rPr lang="en-US" dirty="0"/>
            </a:br>
            <a:r>
              <a:rPr lang="en-US" sz="2200" dirty="0">
                <a:latin typeface="Arial" panose="020B0604020202020204" pitchFamily="34" charset="0"/>
                <a:cs typeface="Arial" panose="020B0604020202020204" pitchFamily="34" charset="0"/>
              </a:rPr>
              <a:t>2. relationship plot (PM 2.5 &amp; pm10)</a:t>
            </a:r>
          </a:p>
        </p:txBody>
      </p:sp>
      <p:pic>
        <p:nvPicPr>
          <p:cNvPr id="5" name="Picture 4">
            <a:extLst>
              <a:ext uri="{FF2B5EF4-FFF2-40B4-BE49-F238E27FC236}">
                <a16:creationId xmlns:a16="http://schemas.microsoft.com/office/drawing/2014/main" id="{B9611A34-58B4-47E0-8B80-0CA59A7D0055}"/>
              </a:ext>
            </a:extLst>
          </p:cNvPr>
          <p:cNvPicPr>
            <a:picLocks noChangeAspect="1"/>
          </p:cNvPicPr>
          <p:nvPr/>
        </p:nvPicPr>
        <p:blipFill>
          <a:blip r:embed="rId3"/>
          <a:stretch>
            <a:fillRect/>
          </a:stretch>
        </p:blipFill>
        <p:spPr>
          <a:xfrm>
            <a:off x="5950398" y="1916832"/>
            <a:ext cx="6238427" cy="3591469"/>
          </a:xfrm>
          <a:prstGeom prst="rect">
            <a:avLst/>
          </a:prstGeom>
        </p:spPr>
      </p:pic>
      <p:sp>
        <p:nvSpPr>
          <p:cNvPr id="6" name="TextBox 5">
            <a:extLst>
              <a:ext uri="{FF2B5EF4-FFF2-40B4-BE49-F238E27FC236}">
                <a16:creationId xmlns:a16="http://schemas.microsoft.com/office/drawing/2014/main" id="{C059AEE3-0BFF-4C3E-9A1D-457856ED5146}"/>
              </a:ext>
            </a:extLst>
          </p:cNvPr>
          <p:cNvSpPr txBox="1"/>
          <p:nvPr/>
        </p:nvSpPr>
        <p:spPr>
          <a:xfrm>
            <a:off x="6022404" y="5479866"/>
            <a:ext cx="5544616"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Relationship Between PM2.5 and PM10 </a:t>
            </a:r>
            <a:endParaRPr lang="en-AE"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4B569333-5671-4744-A710-0CFC8972274F}"/>
              </a:ext>
            </a:extLst>
          </p:cNvPr>
          <p:cNvSpPr txBox="1"/>
          <p:nvPr/>
        </p:nvSpPr>
        <p:spPr>
          <a:xfrm>
            <a:off x="45740" y="2132856"/>
            <a:ext cx="5472608" cy="3888432"/>
          </a:xfrm>
          <a:prstGeom prst="rect">
            <a:avLst/>
          </a:prstGeom>
          <a:noFill/>
        </p:spPr>
        <p:txBody>
          <a:bodyPr wrap="square" rtlCol="0">
            <a:no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A positive linear relationship exists between PM10 and PM2.5</a:t>
            </a:r>
          </a:p>
          <a:p>
            <a:pPr marL="285750" indent="-285750">
              <a:lnSpc>
                <a:spcPct val="150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Higher PM10 concentrations are associated with higher PM2.5 levels</a:t>
            </a:r>
            <a:endParaRPr lang="en-A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8312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A8678-C9B4-4F84-8130-D47E40CD0DB1}"/>
              </a:ext>
            </a:extLst>
          </p:cNvPr>
          <p:cNvSpPr>
            <a:spLocks noGrp="1"/>
          </p:cNvSpPr>
          <p:nvPr>
            <p:ph type="title"/>
          </p:nvPr>
        </p:nvSpPr>
        <p:spPr>
          <a:xfrm>
            <a:off x="1451202" y="332656"/>
            <a:ext cx="9600774" cy="1521099"/>
          </a:xfrm>
        </p:spPr>
        <p:txBody>
          <a:bodyPr/>
          <a:lstStyle/>
          <a:p>
            <a:r>
              <a:rPr lang="en-US" dirty="0">
                <a:latin typeface="Arial" panose="020B0604020202020204" pitchFamily="34" charset="0"/>
                <a:cs typeface="Arial" panose="020B0604020202020204" pitchFamily="34" charset="0"/>
              </a:rPr>
              <a:t>STATISTICAL FINDINGS</a:t>
            </a:r>
            <a:br>
              <a:rPr lang="en-US" dirty="0"/>
            </a:br>
            <a:br>
              <a:rPr lang="en-US" dirty="0"/>
            </a:br>
            <a:r>
              <a:rPr lang="en-US" sz="2200" dirty="0">
                <a:latin typeface="Arial" panose="020B0604020202020204" pitchFamily="34" charset="0"/>
                <a:cs typeface="Arial" panose="020B0604020202020204" pitchFamily="34" charset="0"/>
              </a:rPr>
              <a:t>3. relationship plots (pm2.5 &amp; humidity)</a:t>
            </a:r>
            <a:endParaRPr lang="en-AE" dirty="0"/>
          </a:p>
        </p:txBody>
      </p:sp>
      <p:pic>
        <p:nvPicPr>
          <p:cNvPr id="4" name="Picture 3">
            <a:extLst>
              <a:ext uri="{FF2B5EF4-FFF2-40B4-BE49-F238E27FC236}">
                <a16:creationId xmlns:a16="http://schemas.microsoft.com/office/drawing/2014/main" id="{3AB08917-2FB1-4605-A281-AAAEB40B15C5}"/>
              </a:ext>
            </a:extLst>
          </p:cNvPr>
          <p:cNvPicPr>
            <a:picLocks noChangeAspect="1"/>
          </p:cNvPicPr>
          <p:nvPr/>
        </p:nvPicPr>
        <p:blipFill>
          <a:blip r:embed="rId2"/>
          <a:stretch>
            <a:fillRect/>
          </a:stretch>
        </p:blipFill>
        <p:spPr>
          <a:xfrm>
            <a:off x="6166419" y="1916832"/>
            <a:ext cx="6022405" cy="3744415"/>
          </a:xfrm>
          <a:prstGeom prst="rect">
            <a:avLst/>
          </a:prstGeom>
        </p:spPr>
      </p:pic>
      <p:sp>
        <p:nvSpPr>
          <p:cNvPr id="5" name="TextBox 4">
            <a:extLst>
              <a:ext uri="{FF2B5EF4-FFF2-40B4-BE49-F238E27FC236}">
                <a16:creationId xmlns:a16="http://schemas.microsoft.com/office/drawing/2014/main" id="{F9C52783-6C04-4A9F-9A74-E17EE1A5AA05}"/>
              </a:ext>
            </a:extLst>
          </p:cNvPr>
          <p:cNvSpPr txBox="1"/>
          <p:nvPr/>
        </p:nvSpPr>
        <p:spPr>
          <a:xfrm>
            <a:off x="6526460" y="5661247"/>
            <a:ext cx="5544616" cy="432049"/>
          </a:xfrm>
          <a:prstGeom prst="rect">
            <a:avLst/>
          </a:prstGeom>
          <a:noFill/>
        </p:spPr>
        <p:txBody>
          <a:bodyPr wrap="square" rtlCol="0">
            <a:noAutofit/>
          </a:bodyPr>
          <a:lstStyle/>
          <a:p>
            <a:pPr algn="ctr"/>
            <a:r>
              <a:rPr lang="en-US" dirty="0">
                <a:latin typeface="Arial" panose="020B0604020202020204" pitchFamily="34" charset="0"/>
                <a:cs typeface="Arial" panose="020B0604020202020204" pitchFamily="34" charset="0"/>
              </a:rPr>
              <a:t>Relationship Between PM2.5 and Humidity</a:t>
            </a:r>
            <a:endParaRPr lang="en-AE"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B0D0A67-6A50-4023-B587-92A753F7808E}"/>
              </a:ext>
            </a:extLst>
          </p:cNvPr>
          <p:cNvSpPr txBox="1"/>
          <p:nvPr/>
        </p:nvSpPr>
        <p:spPr>
          <a:xfrm>
            <a:off x="981844" y="1916832"/>
            <a:ext cx="4536504" cy="4032448"/>
          </a:xfrm>
          <a:prstGeom prst="rect">
            <a:avLst/>
          </a:prstGeom>
          <a:noFill/>
        </p:spPr>
        <p:txBody>
          <a:bodyPr wrap="square" rtlCol="0">
            <a:no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A negative linear relationship between PM2.5 and Humidity but noise in some sampling point</a:t>
            </a:r>
          </a:p>
          <a:p>
            <a:pPr marL="285750" indent="-285750">
              <a:lnSpc>
                <a:spcPct val="150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AE" dirty="0">
                <a:latin typeface="Arial" panose="020B0604020202020204" pitchFamily="34" charset="0"/>
                <a:cs typeface="Arial" panose="020B0604020202020204" pitchFamily="34" charset="0"/>
              </a:rPr>
              <a:t>Lower Humidity are associated with higher PM2.5 concentration</a:t>
            </a:r>
          </a:p>
          <a:p>
            <a:pPr marL="285750" indent="-285750">
              <a:buFont typeface="Arial" panose="020B0604020202020204" pitchFamily="34" charset="0"/>
              <a:buChar char="•"/>
            </a:pPr>
            <a:endParaRPr lang="en-AE" dirty="0">
              <a:latin typeface="Arial" panose="020B0604020202020204" pitchFamily="34" charset="0"/>
              <a:cs typeface="Arial" panose="020B0604020202020204" pitchFamily="34" charset="0"/>
            </a:endParaRPr>
          </a:p>
          <a:p>
            <a:endParaRPr lang="en-A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523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82F14-DBA5-4E51-847A-91E87CA1AE41}"/>
              </a:ext>
            </a:extLst>
          </p:cNvPr>
          <p:cNvSpPr>
            <a:spLocks noGrp="1"/>
          </p:cNvSpPr>
          <p:nvPr>
            <p:ph type="title"/>
          </p:nvPr>
        </p:nvSpPr>
        <p:spPr>
          <a:xfrm>
            <a:off x="1451202" y="260648"/>
            <a:ext cx="9600774" cy="1593107"/>
          </a:xfrm>
        </p:spPr>
        <p:txBody>
          <a:bodyPr>
            <a:normAutofit/>
          </a:bodyPr>
          <a:lstStyle/>
          <a:p>
            <a:r>
              <a:rPr lang="en-US" sz="3600" dirty="0">
                <a:latin typeface="Arial" panose="020B0604020202020204" pitchFamily="34" charset="0"/>
                <a:cs typeface="Arial" panose="020B0604020202020204" pitchFamily="34" charset="0"/>
              </a:rPr>
              <a:t>Statistical findings</a:t>
            </a:r>
            <a:br>
              <a:rPr lang="en-US" sz="3600" dirty="0">
                <a:latin typeface="Arial" panose="020B0604020202020204" pitchFamily="34" charset="0"/>
                <a:cs typeface="Arial" panose="020B0604020202020204" pitchFamily="34" charset="0"/>
              </a:rPr>
            </a:br>
            <a:br>
              <a:rPr lang="en-US" dirty="0"/>
            </a:br>
            <a:r>
              <a:rPr lang="en-US" sz="2400" dirty="0">
                <a:latin typeface="Arial" panose="020B0604020202020204" pitchFamily="34" charset="0"/>
                <a:cs typeface="Arial" panose="020B0604020202020204" pitchFamily="34" charset="0"/>
              </a:rPr>
              <a:t>4. Relationship Plot (Humidity &amp; temperature)</a:t>
            </a:r>
            <a:endParaRPr lang="en-AE" sz="24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788B056A-C076-488F-A9EB-1D64C148BDA5}"/>
              </a:ext>
            </a:extLst>
          </p:cNvPr>
          <p:cNvPicPr>
            <a:picLocks noChangeAspect="1"/>
          </p:cNvPicPr>
          <p:nvPr/>
        </p:nvPicPr>
        <p:blipFill>
          <a:blip r:embed="rId2"/>
          <a:stretch>
            <a:fillRect/>
          </a:stretch>
        </p:blipFill>
        <p:spPr>
          <a:xfrm>
            <a:off x="5806380" y="1916833"/>
            <a:ext cx="6382445" cy="3672408"/>
          </a:xfrm>
          <a:prstGeom prst="rect">
            <a:avLst/>
          </a:prstGeom>
        </p:spPr>
      </p:pic>
      <p:sp>
        <p:nvSpPr>
          <p:cNvPr id="5" name="TextBox 4">
            <a:extLst>
              <a:ext uri="{FF2B5EF4-FFF2-40B4-BE49-F238E27FC236}">
                <a16:creationId xmlns:a16="http://schemas.microsoft.com/office/drawing/2014/main" id="{44DD956B-F2B9-45B2-B0B9-CB6CE7013559}"/>
              </a:ext>
            </a:extLst>
          </p:cNvPr>
          <p:cNvSpPr txBox="1"/>
          <p:nvPr/>
        </p:nvSpPr>
        <p:spPr>
          <a:xfrm>
            <a:off x="6310436" y="5661248"/>
            <a:ext cx="5256584"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Relationship Between Temperature &amp; Humidity</a:t>
            </a:r>
            <a:endParaRPr lang="en-AE"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A4C4DCA-9161-4C33-B933-48B8A1CF450A}"/>
              </a:ext>
            </a:extLst>
          </p:cNvPr>
          <p:cNvSpPr txBox="1"/>
          <p:nvPr/>
        </p:nvSpPr>
        <p:spPr>
          <a:xfrm>
            <a:off x="189756" y="2060848"/>
            <a:ext cx="4968552" cy="3816424"/>
          </a:xfrm>
          <a:prstGeom prst="rect">
            <a:avLst/>
          </a:prstGeom>
          <a:noFill/>
        </p:spPr>
        <p:txBody>
          <a:bodyPr wrap="square" rtlCol="0">
            <a:no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A negative linear relationship between humidity and temperature</a:t>
            </a:r>
          </a:p>
          <a:p>
            <a:pPr marL="285750" indent="-285750">
              <a:lnSpc>
                <a:spcPct val="150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Lower Temperature is associated with Higher Humidity</a:t>
            </a:r>
            <a:endParaRPr lang="en-A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8120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16129-1856-45A2-B9EE-CF2BB95BE6DF}"/>
              </a:ext>
            </a:extLst>
          </p:cNvPr>
          <p:cNvSpPr>
            <a:spLocks noGrp="1"/>
          </p:cNvSpPr>
          <p:nvPr>
            <p:ph type="title"/>
          </p:nvPr>
        </p:nvSpPr>
        <p:spPr>
          <a:xfrm>
            <a:off x="1485900" y="816151"/>
            <a:ext cx="9600774" cy="1049235"/>
          </a:xfrm>
        </p:spPr>
        <p:txBody>
          <a:bodyPr/>
          <a:lstStyle/>
          <a:p>
            <a:r>
              <a:rPr lang="en-US" dirty="0">
                <a:latin typeface="Arial" panose="020B0604020202020204" pitchFamily="34" charset="0"/>
                <a:cs typeface="Arial" panose="020B0604020202020204" pitchFamily="34" charset="0"/>
              </a:rPr>
              <a:t>Spatial distribution</a:t>
            </a:r>
            <a:endParaRPr lang="en-AE"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D74FE2EC-E518-4C7B-933A-05853C48B100}"/>
              </a:ext>
            </a:extLst>
          </p:cNvPr>
          <p:cNvPicPr>
            <a:picLocks noChangeAspect="1"/>
          </p:cNvPicPr>
          <p:nvPr/>
        </p:nvPicPr>
        <p:blipFill>
          <a:blip r:embed="rId2"/>
          <a:stretch>
            <a:fillRect/>
          </a:stretch>
        </p:blipFill>
        <p:spPr>
          <a:xfrm>
            <a:off x="3070076" y="1340769"/>
            <a:ext cx="9118749" cy="4392488"/>
          </a:xfrm>
          <a:prstGeom prst="rect">
            <a:avLst/>
          </a:prstGeom>
        </p:spPr>
      </p:pic>
      <p:sp>
        <p:nvSpPr>
          <p:cNvPr id="7" name="TextBox 6">
            <a:extLst>
              <a:ext uri="{FF2B5EF4-FFF2-40B4-BE49-F238E27FC236}">
                <a16:creationId xmlns:a16="http://schemas.microsoft.com/office/drawing/2014/main" id="{F509ABFF-BE0F-4D8D-90B3-94E0D0E717EA}"/>
              </a:ext>
            </a:extLst>
          </p:cNvPr>
          <p:cNvSpPr txBox="1"/>
          <p:nvPr/>
        </p:nvSpPr>
        <p:spPr>
          <a:xfrm>
            <a:off x="4006180" y="5733256"/>
            <a:ext cx="6192688"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Map Plot Based on PM2.5 Intensity</a:t>
            </a:r>
            <a:endParaRPr lang="en-AE"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B50244A-EA0F-45C4-A556-351EB8F74F3C}"/>
              </a:ext>
            </a:extLst>
          </p:cNvPr>
          <p:cNvSpPr txBox="1"/>
          <p:nvPr/>
        </p:nvSpPr>
        <p:spPr>
          <a:xfrm>
            <a:off x="0" y="2060848"/>
            <a:ext cx="3142084" cy="3744416"/>
          </a:xfrm>
          <a:prstGeom prst="rect">
            <a:avLst/>
          </a:prstGeom>
          <a:noFill/>
        </p:spPr>
        <p:txBody>
          <a:bodyPr wrap="square" rtlCol="0">
            <a:no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Highest PM2.5 concentration is Maxwell(4)</a:t>
            </a:r>
          </a:p>
          <a:p>
            <a:pPr marL="285750" indent="-285750">
              <a:lnSpc>
                <a:spcPct val="150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Least PM2.5 concentration is Salford Crescent Railway Station (9)</a:t>
            </a:r>
            <a:endParaRPr lang="en-A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3800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21D95-1EA3-4056-9276-91F7D9FBF3F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Limitations</a:t>
            </a:r>
            <a:endParaRPr lang="en-AE"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49201BD-C56F-49D7-AE27-747CB8C44D9A}"/>
              </a:ext>
            </a:extLst>
          </p:cNvPr>
          <p:cNvSpPr txBox="1"/>
          <p:nvPr/>
        </p:nvSpPr>
        <p:spPr>
          <a:xfrm>
            <a:off x="0" y="1910956"/>
            <a:ext cx="4283170" cy="4142523"/>
          </a:xfrm>
          <a:prstGeom prst="rect">
            <a:avLst/>
          </a:prstGeom>
          <a:noFill/>
        </p:spPr>
        <p:txBody>
          <a:bodyPr wrap="square" rtlCol="0">
            <a:no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EQUIPMENT INCONSISTENCY</a:t>
            </a:r>
          </a:p>
          <a:p>
            <a:pPr marL="285750" indent="-285750">
              <a:lnSpc>
                <a:spcPct val="150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MITIGATION STRATEGY (Data Selection)</a:t>
            </a:r>
          </a:p>
          <a:p>
            <a:pPr marL="285750" indent="-285750">
              <a:lnSpc>
                <a:spcPct val="150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IMPACT ON RESEARCH DESIGN</a:t>
            </a:r>
            <a:endParaRPr lang="en-AE"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7263034-DC1A-43A7-A4BB-4CF92EA1DF92}"/>
              </a:ext>
            </a:extLst>
          </p:cNvPr>
          <p:cNvPicPr>
            <a:picLocks noChangeAspect="1"/>
          </p:cNvPicPr>
          <p:nvPr/>
        </p:nvPicPr>
        <p:blipFill>
          <a:blip r:embed="rId2"/>
          <a:stretch>
            <a:fillRect/>
          </a:stretch>
        </p:blipFill>
        <p:spPr>
          <a:xfrm>
            <a:off x="4477356" y="1936398"/>
            <a:ext cx="3528391" cy="2252929"/>
          </a:xfrm>
          <a:prstGeom prst="rect">
            <a:avLst/>
          </a:prstGeom>
        </p:spPr>
      </p:pic>
      <p:sp>
        <p:nvSpPr>
          <p:cNvPr id="9" name="TextBox 8">
            <a:extLst>
              <a:ext uri="{FF2B5EF4-FFF2-40B4-BE49-F238E27FC236}">
                <a16:creationId xmlns:a16="http://schemas.microsoft.com/office/drawing/2014/main" id="{3D21DDDC-F6B9-4633-8E9C-176DA73FF756}"/>
              </a:ext>
            </a:extLst>
          </p:cNvPr>
          <p:cNvSpPr txBox="1"/>
          <p:nvPr/>
        </p:nvSpPr>
        <p:spPr>
          <a:xfrm>
            <a:off x="4651854" y="4163886"/>
            <a:ext cx="3179394" cy="923330"/>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First 5 minute readings from Peel Building using Airing-2000 Series</a:t>
            </a:r>
            <a:endParaRPr lang="en-AE"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A9AD1F53-DFCC-4FAE-8D41-F853759310F6}"/>
              </a:ext>
            </a:extLst>
          </p:cNvPr>
          <p:cNvPicPr>
            <a:picLocks noChangeAspect="1"/>
          </p:cNvPicPr>
          <p:nvPr/>
        </p:nvPicPr>
        <p:blipFill>
          <a:blip r:embed="rId3"/>
          <a:stretch>
            <a:fillRect/>
          </a:stretch>
        </p:blipFill>
        <p:spPr>
          <a:xfrm>
            <a:off x="8254652" y="1910957"/>
            <a:ext cx="3785029" cy="2252929"/>
          </a:xfrm>
          <a:prstGeom prst="rect">
            <a:avLst/>
          </a:prstGeom>
        </p:spPr>
      </p:pic>
      <p:sp>
        <p:nvSpPr>
          <p:cNvPr id="12" name="TextBox 11">
            <a:extLst>
              <a:ext uri="{FF2B5EF4-FFF2-40B4-BE49-F238E27FC236}">
                <a16:creationId xmlns:a16="http://schemas.microsoft.com/office/drawing/2014/main" id="{A59DC4B3-5F46-43C9-B687-1A53412C332D}"/>
              </a:ext>
            </a:extLst>
          </p:cNvPr>
          <p:cNvSpPr txBox="1"/>
          <p:nvPr/>
        </p:nvSpPr>
        <p:spPr>
          <a:xfrm>
            <a:off x="8548930" y="4163886"/>
            <a:ext cx="3384376" cy="1200329"/>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First 5 minute readings from Peel Building using M-2000 Series</a:t>
            </a:r>
            <a:endParaRPr lang="en-AE" dirty="0">
              <a:latin typeface="Arial" panose="020B0604020202020204" pitchFamily="34" charset="0"/>
              <a:cs typeface="Arial" panose="020B0604020202020204" pitchFamily="34" charset="0"/>
            </a:endParaRPr>
          </a:p>
          <a:p>
            <a:endParaRPr lang="en-A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615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F6FF1-3462-431F-959B-7E87049A76C7}"/>
              </a:ext>
            </a:extLst>
          </p:cNvPr>
          <p:cNvSpPr>
            <a:spLocks noGrp="1"/>
          </p:cNvSpPr>
          <p:nvPr>
            <p:ph type="title"/>
          </p:nvPr>
        </p:nvSpPr>
        <p:spPr/>
        <p:txBody>
          <a:bodyPr/>
          <a:lstStyle/>
          <a:p>
            <a:r>
              <a:rPr lang="en-US" dirty="0"/>
              <a:t>RECOMMENDATION</a:t>
            </a:r>
            <a:endParaRPr lang="en-AE" dirty="0"/>
          </a:p>
        </p:txBody>
      </p:sp>
      <p:sp>
        <p:nvSpPr>
          <p:cNvPr id="6" name="Oval 5">
            <a:extLst>
              <a:ext uri="{FF2B5EF4-FFF2-40B4-BE49-F238E27FC236}">
                <a16:creationId xmlns:a16="http://schemas.microsoft.com/office/drawing/2014/main" id="{9C21189E-B462-491E-B38C-97E77E4FE13D}"/>
              </a:ext>
            </a:extLst>
          </p:cNvPr>
          <p:cNvSpPr/>
          <p:nvPr/>
        </p:nvSpPr>
        <p:spPr>
          <a:xfrm>
            <a:off x="23470" y="2420888"/>
            <a:ext cx="3240000" cy="252028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Arial" panose="020B0604020202020204" pitchFamily="34" charset="0"/>
                <a:cs typeface="Arial" panose="020B0604020202020204" pitchFamily="34" charset="0"/>
              </a:rPr>
              <a:t>1. TARGETED TRAFFIC CONTROL</a:t>
            </a:r>
            <a:endParaRPr lang="en-AE" dirty="0">
              <a:solidFill>
                <a:schemeClr val="bg2"/>
              </a:solidFill>
              <a:latin typeface="Arial" panose="020B0604020202020204" pitchFamily="34" charset="0"/>
              <a:cs typeface="Arial" panose="020B0604020202020204" pitchFamily="34" charset="0"/>
            </a:endParaRPr>
          </a:p>
        </p:txBody>
      </p:sp>
      <p:sp>
        <p:nvSpPr>
          <p:cNvPr id="9" name="Oval 8">
            <a:extLst>
              <a:ext uri="{FF2B5EF4-FFF2-40B4-BE49-F238E27FC236}">
                <a16:creationId xmlns:a16="http://schemas.microsoft.com/office/drawing/2014/main" id="{33D5C413-54B8-469A-A507-4B6F974475EA}"/>
              </a:ext>
            </a:extLst>
          </p:cNvPr>
          <p:cNvSpPr/>
          <p:nvPr/>
        </p:nvSpPr>
        <p:spPr>
          <a:xfrm>
            <a:off x="4294212" y="1484784"/>
            <a:ext cx="3240000" cy="2520000"/>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Arial" panose="020B0604020202020204" pitchFamily="34" charset="0"/>
                <a:cs typeface="Arial" panose="020B0604020202020204" pitchFamily="34" charset="0"/>
              </a:rPr>
              <a:t>2. BLUE-GREEN INFRASTRUCTURES</a:t>
            </a:r>
            <a:endParaRPr lang="en-AE" dirty="0">
              <a:solidFill>
                <a:schemeClr val="bg2"/>
              </a:solidFill>
              <a:latin typeface="Arial" panose="020B0604020202020204" pitchFamily="34" charset="0"/>
              <a:cs typeface="Arial" panose="020B0604020202020204" pitchFamily="34" charset="0"/>
            </a:endParaRPr>
          </a:p>
        </p:txBody>
      </p:sp>
      <p:sp>
        <p:nvSpPr>
          <p:cNvPr id="12" name="Oval 11">
            <a:extLst>
              <a:ext uri="{FF2B5EF4-FFF2-40B4-BE49-F238E27FC236}">
                <a16:creationId xmlns:a16="http://schemas.microsoft.com/office/drawing/2014/main" id="{14FEFC53-7FFB-44FD-9503-08CC38BC1D01}"/>
              </a:ext>
            </a:extLst>
          </p:cNvPr>
          <p:cNvSpPr/>
          <p:nvPr/>
        </p:nvSpPr>
        <p:spPr>
          <a:xfrm>
            <a:off x="8925356" y="2461222"/>
            <a:ext cx="3240000" cy="252000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Arial" panose="020B0604020202020204" pitchFamily="34" charset="0"/>
                <a:cs typeface="Arial" panose="020B0604020202020204" pitchFamily="34" charset="0"/>
              </a:rPr>
              <a:t>3. STANDARDISATION OF MONITORING EQUIPMENT</a:t>
            </a:r>
            <a:endParaRPr lang="en-AE" dirty="0">
              <a:solidFill>
                <a:schemeClr val="bg2"/>
              </a:solidFill>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731F8E50-7793-49DB-A3A0-11B62D4DD31C}"/>
              </a:ext>
            </a:extLst>
          </p:cNvPr>
          <p:cNvSpPr/>
          <p:nvPr/>
        </p:nvSpPr>
        <p:spPr>
          <a:xfrm>
            <a:off x="4366220" y="4113216"/>
            <a:ext cx="3240000" cy="2520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Arial" panose="020B0604020202020204" pitchFamily="34" charset="0"/>
                <a:cs typeface="Arial" panose="020B0604020202020204" pitchFamily="34" charset="0"/>
              </a:rPr>
              <a:t>4. EXTENDED MONITORING DURATION ACROSS TIME PERIODS</a:t>
            </a:r>
            <a:endParaRPr lang="en-AE" dirty="0">
              <a:solidFill>
                <a:schemeClr val="bg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6389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DCB32-78E8-4C73-8D14-04ADB61DE0B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FOLLOW ON STUDY</a:t>
            </a:r>
            <a:endParaRPr lang="en-AE"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EE982CA1-4C81-4886-99D1-AF20A29D1D13}"/>
              </a:ext>
            </a:extLst>
          </p:cNvPr>
          <p:cNvSpPr txBox="1"/>
          <p:nvPr/>
        </p:nvSpPr>
        <p:spPr>
          <a:xfrm>
            <a:off x="837828" y="2276872"/>
            <a:ext cx="4824536" cy="21185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EXPLORING NON-LINEAR AND THRESHOLD EFFECTS OF HUMIDITY ON PM2.5: A MICRO-ENVIRONMENTAL STUDY AT MAXWELL AND PEEL PARK BUILDING</a:t>
            </a:r>
            <a:endParaRPr lang="en-AE"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F44CDD9B-FB29-42A6-BA8D-340D33ABC0AF}"/>
              </a:ext>
            </a:extLst>
          </p:cNvPr>
          <p:cNvPicPr>
            <a:picLocks noChangeAspect="1"/>
          </p:cNvPicPr>
          <p:nvPr/>
        </p:nvPicPr>
        <p:blipFill>
          <a:blip r:embed="rId2"/>
          <a:stretch>
            <a:fillRect/>
          </a:stretch>
        </p:blipFill>
        <p:spPr>
          <a:xfrm>
            <a:off x="5590356" y="1938458"/>
            <a:ext cx="6408712" cy="3650782"/>
          </a:xfrm>
          <a:prstGeom prst="rect">
            <a:avLst/>
          </a:prstGeom>
        </p:spPr>
      </p:pic>
      <p:sp>
        <p:nvSpPr>
          <p:cNvPr id="8" name="TextBox 7">
            <a:extLst>
              <a:ext uri="{FF2B5EF4-FFF2-40B4-BE49-F238E27FC236}">
                <a16:creationId xmlns:a16="http://schemas.microsoft.com/office/drawing/2014/main" id="{67EA5550-AAB6-4ED4-9C85-F4C410101C95}"/>
              </a:ext>
            </a:extLst>
          </p:cNvPr>
          <p:cNvSpPr txBox="1"/>
          <p:nvPr/>
        </p:nvSpPr>
        <p:spPr>
          <a:xfrm>
            <a:off x="5734372" y="5589240"/>
            <a:ext cx="5760640" cy="369332"/>
          </a:xfrm>
          <a:prstGeom prst="rect">
            <a:avLst/>
          </a:prstGeom>
          <a:noFill/>
        </p:spPr>
        <p:txBody>
          <a:bodyPr wrap="square" rtlCol="0">
            <a:spAutoFit/>
          </a:bodyPr>
          <a:lstStyle/>
          <a:p>
            <a:pPr algn="ctr"/>
            <a:r>
              <a:rPr lang="en-US" dirty="0"/>
              <a:t>Red Dot For Maxwell (4) outlier </a:t>
            </a:r>
            <a:r>
              <a:rPr lang="en-US" dirty="0" err="1"/>
              <a:t>behaviour</a:t>
            </a:r>
            <a:endParaRPr lang="en-AE" dirty="0"/>
          </a:p>
        </p:txBody>
      </p:sp>
    </p:spTree>
    <p:extLst>
      <p:ext uri="{BB962C8B-B14F-4D97-AF65-F5344CB8AC3E}">
        <p14:creationId xmlns:p14="http://schemas.microsoft.com/office/powerpoint/2010/main" val="1212480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C9A71-4E5E-4C11-8620-87FD400ECEB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Reference list</a:t>
            </a:r>
            <a:endParaRPr lang="en-AE"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4548A40-51A0-4844-8E61-1151FC8292FD}"/>
              </a:ext>
            </a:extLst>
          </p:cNvPr>
          <p:cNvSpPr txBox="1"/>
          <p:nvPr/>
        </p:nvSpPr>
        <p:spPr>
          <a:xfrm>
            <a:off x="189755" y="1916832"/>
            <a:ext cx="11999069" cy="4032448"/>
          </a:xfrm>
          <a:prstGeom prst="rect">
            <a:avLst/>
          </a:prstGeom>
          <a:noFill/>
        </p:spPr>
        <p:txBody>
          <a:bodyPr wrap="square" rtlCol="0">
            <a:noAutofit/>
          </a:bodyPr>
          <a:lstStyle/>
          <a:p>
            <a:pPr marL="342900" indent="-342900">
              <a:buAutoNum type="arabicPeriod"/>
            </a:pPr>
            <a:r>
              <a:rPr lang="en-US" sz="1200" dirty="0">
                <a:latin typeface="Arial" panose="020B0604020202020204" pitchFamily="34" charset="0"/>
                <a:cs typeface="Arial" panose="020B0604020202020204" pitchFamily="34" charset="0"/>
              </a:rPr>
              <a:t>WHO (2023). Household air pollution. Available at: https://www.who.int/news room/fact-sheets/detail/household-air-pollution-and-health.</a:t>
            </a:r>
          </a:p>
          <a:p>
            <a:pPr marL="342900" indent="-342900">
              <a:buAutoNum type="arabicPeriod"/>
            </a:pPr>
            <a:endParaRPr lang="en-US" sz="1200" dirty="0">
              <a:latin typeface="Arial" panose="020B0604020202020204" pitchFamily="34" charset="0"/>
              <a:cs typeface="Arial" panose="020B0604020202020204" pitchFamily="34" charset="0"/>
            </a:endParaRPr>
          </a:p>
          <a:p>
            <a:pPr marL="342900" indent="-342900">
              <a:buAutoNum type="arabicPeriod" startAt="2"/>
            </a:pPr>
            <a:r>
              <a:rPr lang="en-US" sz="1200" dirty="0" err="1">
                <a:latin typeface="Arial" panose="020B0604020202020204" pitchFamily="34" charset="0"/>
                <a:cs typeface="Arial" panose="020B0604020202020204" pitchFamily="34" charset="0"/>
              </a:rPr>
              <a:t>Radaideh</a:t>
            </a:r>
            <a:r>
              <a:rPr lang="en-US" sz="1200" dirty="0">
                <a:latin typeface="Arial" panose="020B0604020202020204" pitchFamily="34" charset="0"/>
                <a:cs typeface="Arial" panose="020B0604020202020204" pitchFamily="34" charset="0"/>
              </a:rPr>
              <a:t>, j. a., Abu </a:t>
            </a:r>
            <a:r>
              <a:rPr lang="en-US" sz="1200" dirty="0" err="1">
                <a:latin typeface="Arial" panose="020B0604020202020204" pitchFamily="34" charset="0"/>
                <a:cs typeface="Arial" panose="020B0604020202020204" pitchFamily="34" charset="0"/>
              </a:rPr>
              <a:t>salem</a:t>
            </a:r>
            <a:r>
              <a:rPr lang="en-US" sz="1200" dirty="0">
                <a:latin typeface="Arial" panose="020B0604020202020204" pitchFamily="34" charset="0"/>
                <a:cs typeface="Arial" panose="020B0604020202020204" pitchFamily="34" charset="0"/>
              </a:rPr>
              <a:t>, z. and </a:t>
            </a:r>
            <a:r>
              <a:rPr lang="en-US" sz="1200" dirty="0" err="1">
                <a:latin typeface="Arial" panose="020B0604020202020204" pitchFamily="34" charset="0"/>
                <a:cs typeface="Arial" panose="020B0604020202020204" pitchFamily="34" charset="0"/>
              </a:rPr>
              <a:t>Alqawasmeh</a:t>
            </a:r>
            <a:r>
              <a:rPr lang="en-US" sz="1200" dirty="0">
                <a:latin typeface="Arial" panose="020B0604020202020204" pitchFamily="34" charset="0"/>
                <a:cs typeface="Arial" panose="020B0604020202020204" pitchFamily="34" charset="0"/>
              </a:rPr>
              <a:t>, h 2023. Sensitivity of particulate matter (pm) to climatic variables in arid regions. available at v18i03a124_ywxk4-bj3uqypdovkmg0t.pdf</a:t>
            </a:r>
          </a:p>
          <a:p>
            <a:pPr marL="342900" indent="-342900">
              <a:buAutoNum type="arabicPeriod" startAt="2"/>
            </a:pPr>
            <a:endParaRPr lang="en-US" sz="1200" dirty="0">
              <a:latin typeface="Arial" panose="020B0604020202020204" pitchFamily="34" charset="0"/>
              <a:cs typeface="Arial" panose="020B0604020202020204" pitchFamily="34" charset="0"/>
            </a:endParaRPr>
          </a:p>
          <a:p>
            <a:pPr marL="342900" indent="-342900">
              <a:buAutoNum type="arabicPeriod" startAt="2"/>
            </a:pPr>
            <a:r>
              <a:rPr lang="en-US" sz="1200" dirty="0">
                <a:latin typeface="Arial" panose="020B0604020202020204" pitchFamily="34" charset="0"/>
                <a:cs typeface="Arial" panose="020B0604020202020204" pitchFamily="34" charset="0"/>
              </a:rPr>
              <a:t>Python Software Foundation. (2026). Python Language Reference, version 3.x. Available at: </a:t>
            </a:r>
            <a:r>
              <a:rPr lang="en-US" sz="1200" dirty="0">
                <a:latin typeface="Arial" panose="020B0604020202020204" pitchFamily="34" charset="0"/>
                <a:cs typeface="Arial" panose="020B0604020202020204" pitchFamily="34" charset="0"/>
                <a:hlinkClick r:id="rId2"/>
              </a:rPr>
              <a:t>https://www.python.org</a:t>
            </a:r>
            <a:r>
              <a:rPr lang="en-US" sz="1200" dirty="0">
                <a:latin typeface="Arial" panose="020B0604020202020204" pitchFamily="34" charset="0"/>
                <a:cs typeface="Arial" panose="020B0604020202020204" pitchFamily="34" charset="0"/>
              </a:rPr>
              <a:t>.</a:t>
            </a:r>
          </a:p>
          <a:p>
            <a:pPr marL="342900" indent="-342900">
              <a:buAutoNum type="arabicPeriod" startAt="2"/>
            </a:pPr>
            <a:endParaRPr lang="en-US" sz="1200" dirty="0">
              <a:latin typeface="Arial" panose="020B0604020202020204" pitchFamily="34" charset="0"/>
              <a:cs typeface="Arial" panose="020B0604020202020204" pitchFamily="34" charset="0"/>
            </a:endParaRPr>
          </a:p>
          <a:p>
            <a:pPr marL="342900" indent="-342900">
              <a:buAutoNum type="arabicPeriod" startAt="2"/>
            </a:pPr>
            <a:r>
              <a:rPr lang="en-US" sz="1200" dirty="0">
                <a:latin typeface="Arial" panose="020B0604020202020204" pitchFamily="34" charset="0"/>
                <a:cs typeface="Arial" panose="020B0604020202020204" pitchFamily="34" charset="0"/>
              </a:rPr>
              <a:t>Hunter, J. D. (2007). Matplotlib: A 2D graphics environment. </a:t>
            </a:r>
            <a:r>
              <a:rPr lang="en-US" sz="1200" i="1" dirty="0">
                <a:latin typeface="Arial" panose="020B0604020202020204" pitchFamily="34" charset="0"/>
                <a:cs typeface="Arial" panose="020B0604020202020204" pitchFamily="34" charset="0"/>
              </a:rPr>
              <a:t>Computing in Science &amp; Engineering</a:t>
            </a:r>
            <a:r>
              <a:rPr lang="en-US" sz="1200" dirty="0">
                <a:latin typeface="Arial" panose="020B0604020202020204" pitchFamily="34" charset="0"/>
                <a:cs typeface="Arial" panose="020B0604020202020204" pitchFamily="34" charset="0"/>
              </a:rPr>
              <a:t>, 9(3), pp. 90–95.</a:t>
            </a:r>
          </a:p>
          <a:p>
            <a:pPr marL="342900" indent="-342900">
              <a:buAutoNum type="arabicPeriod" startAt="2"/>
            </a:pPr>
            <a:endParaRPr lang="en-US" sz="1200" dirty="0">
              <a:latin typeface="Arial" panose="020B0604020202020204" pitchFamily="34" charset="0"/>
              <a:cs typeface="Arial" panose="020B0604020202020204" pitchFamily="34" charset="0"/>
            </a:endParaRPr>
          </a:p>
          <a:p>
            <a:pPr marL="342900" indent="-342900">
              <a:buAutoNum type="arabicPeriod" startAt="2"/>
            </a:pPr>
            <a:r>
              <a:rPr lang="en-US" sz="1200" dirty="0">
                <a:latin typeface="Arial" panose="020B0604020202020204" pitchFamily="34" charset="0"/>
                <a:cs typeface="Arial" panose="020B0604020202020204" pitchFamily="34" charset="0"/>
              </a:rPr>
              <a:t>Waskom, M. L. (2021). Seaborn: statistical data visualization. Journal of Open Source Software, 6(60), p. 3021.</a:t>
            </a:r>
          </a:p>
          <a:p>
            <a:pPr marL="342900" indent="-342900">
              <a:buAutoNum type="arabicPeriod" startAt="2"/>
            </a:pPr>
            <a:endParaRPr lang="en-US" sz="1200" dirty="0">
              <a:latin typeface="Arial" panose="020B0604020202020204" pitchFamily="34" charset="0"/>
              <a:cs typeface="Arial" panose="020B0604020202020204" pitchFamily="34" charset="0"/>
            </a:endParaRPr>
          </a:p>
          <a:p>
            <a:pPr marL="342900" indent="-342900">
              <a:buAutoNum type="arabicPeriod" startAt="2"/>
            </a:pPr>
            <a:r>
              <a:rPr lang="en-US" sz="1200" dirty="0" err="1">
                <a:latin typeface="Arial" panose="020B0604020202020204" pitchFamily="34" charset="0"/>
                <a:cs typeface="Arial" panose="020B0604020202020204" pitchFamily="34" charset="0"/>
              </a:rPr>
              <a:t>Plotly</a:t>
            </a:r>
            <a:r>
              <a:rPr lang="en-US" sz="1200" dirty="0">
                <a:latin typeface="Arial" panose="020B0604020202020204" pitchFamily="34" charset="0"/>
                <a:cs typeface="Arial" panose="020B0604020202020204" pitchFamily="34" charset="0"/>
              </a:rPr>
              <a:t> Technologies Inc. (2015). Collaborative data science. Montréal, QC: </a:t>
            </a:r>
            <a:r>
              <a:rPr lang="en-US" sz="1200" dirty="0" err="1">
                <a:latin typeface="Arial" panose="020B0604020202020204" pitchFamily="34" charset="0"/>
                <a:cs typeface="Arial" panose="020B0604020202020204" pitchFamily="34" charset="0"/>
              </a:rPr>
              <a:t>Plotly</a:t>
            </a:r>
            <a:r>
              <a:rPr lang="en-US" sz="1200" dirty="0">
                <a:latin typeface="Arial" panose="020B0604020202020204" pitchFamily="34" charset="0"/>
                <a:cs typeface="Arial" panose="020B0604020202020204" pitchFamily="34" charset="0"/>
              </a:rPr>
              <a:t> Technologies Inc. Available at: </a:t>
            </a:r>
            <a:r>
              <a:rPr lang="en-US" sz="1200" dirty="0">
                <a:latin typeface="Arial" panose="020B0604020202020204" pitchFamily="34" charset="0"/>
                <a:cs typeface="Arial" panose="020B0604020202020204" pitchFamily="34" charset="0"/>
                <a:hlinkClick r:id="rId3"/>
              </a:rPr>
              <a:t>https://plot.ly</a:t>
            </a:r>
            <a:r>
              <a:rPr lang="en-US" sz="1200" dirty="0">
                <a:latin typeface="Arial" panose="020B0604020202020204" pitchFamily="34" charset="0"/>
                <a:cs typeface="Arial" panose="020B0604020202020204" pitchFamily="34" charset="0"/>
              </a:rPr>
              <a:t>.</a:t>
            </a:r>
          </a:p>
          <a:p>
            <a:pPr marL="342900" indent="-342900">
              <a:buAutoNum type="arabicPeriod" startAt="2"/>
            </a:pPr>
            <a:endParaRPr lang="en-US" sz="1200" dirty="0">
              <a:latin typeface="Arial" panose="020B0604020202020204" pitchFamily="34" charset="0"/>
              <a:cs typeface="Arial" panose="020B0604020202020204" pitchFamily="34" charset="0"/>
            </a:endParaRPr>
          </a:p>
          <a:p>
            <a:pPr marL="342900" indent="-342900">
              <a:buAutoNum type="arabicPeriod" startAt="2"/>
            </a:pPr>
            <a:r>
              <a:rPr lang="en-US" sz="1200" dirty="0">
                <a:latin typeface="Arial" panose="020B0604020202020204" pitchFamily="34" charset="0"/>
                <a:cs typeface="Arial" panose="020B0604020202020204" pitchFamily="34" charset="0"/>
              </a:rPr>
              <a:t>OpenStreetMap Foundation (OSMF). (2026). OpenStreetMap data. Available at: https://www.openstreetmap.org.</a:t>
            </a:r>
          </a:p>
          <a:p>
            <a:pPr marL="342900" indent="-342900">
              <a:buAutoNum type="arabicPeriod" startAt="2"/>
            </a:pPr>
            <a:endParaRPr lang="en-US" dirty="0"/>
          </a:p>
        </p:txBody>
      </p:sp>
    </p:spTree>
    <p:extLst>
      <p:ext uri="{BB962C8B-B14F-4D97-AF65-F5344CB8AC3E}">
        <p14:creationId xmlns:p14="http://schemas.microsoft.com/office/powerpoint/2010/main" val="444324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Earthtones_16x9">
      <a:dk1>
        <a:srgbClr val="652825"/>
      </a:dk1>
      <a:lt1>
        <a:sysClr val="window" lastClr="FFFFFF"/>
      </a:lt1>
      <a:dk2>
        <a:srgbClr val="000000"/>
      </a:dk2>
      <a:lt2>
        <a:srgbClr val="F5DD8F"/>
      </a:lt2>
      <a:accent1>
        <a:srgbClr val="A2C838"/>
      </a:accent1>
      <a:accent2>
        <a:srgbClr val="F68E20"/>
      </a:accent2>
      <a:accent3>
        <a:srgbClr val="38B0B6"/>
      </a:accent3>
      <a:accent4>
        <a:srgbClr val="E95020"/>
      </a:accent4>
      <a:accent5>
        <a:srgbClr val="E0B12C"/>
      </a:accent5>
      <a:accent6>
        <a:srgbClr val="985A34"/>
      </a:accent6>
      <a:hlink>
        <a:srgbClr val="F68E20"/>
      </a:hlink>
      <a:folHlink>
        <a:srgbClr val="727272"/>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Earthtones_16x9">
      <a:dk1>
        <a:srgbClr val="652825"/>
      </a:dk1>
      <a:lt1>
        <a:sysClr val="window" lastClr="FFFFFF"/>
      </a:lt1>
      <a:dk2>
        <a:srgbClr val="000000"/>
      </a:dk2>
      <a:lt2>
        <a:srgbClr val="F5DD8F"/>
      </a:lt2>
      <a:accent1>
        <a:srgbClr val="A2C838"/>
      </a:accent1>
      <a:accent2>
        <a:srgbClr val="F68E20"/>
      </a:accent2>
      <a:accent3>
        <a:srgbClr val="38B0B6"/>
      </a:accent3>
      <a:accent4>
        <a:srgbClr val="E95020"/>
      </a:accent4>
      <a:accent5>
        <a:srgbClr val="E0B12C"/>
      </a:accent5>
      <a:accent6>
        <a:srgbClr val="985A34"/>
      </a:accent6>
      <a:hlink>
        <a:srgbClr val="F68E20"/>
      </a:hlink>
      <a:folHlink>
        <a:srgbClr val="727272"/>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2163</TotalTime>
  <Words>916</Words>
  <Application>Microsoft Office PowerPoint</Application>
  <PresentationFormat>Custom</PresentationFormat>
  <Paragraphs>102</Paragraphs>
  <Slides>15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Corbel</vt:lpstr>
      <vt:lpstr>Gill Sans MT</vt:lpstr>
      <vt:lpstr>Gallery</vt:lpstr>
      <vt:lpstr>Spatial Analysis of Air Quality Across Salford University</vt:lpstr>
      <vt:lpstr>Content Layout</vt:lpstr>
      <vt:lpstr>Introduction &amp; Rationale</vt:lpstr>
      <vt:lpstr>Key Variables &amp; Their Relevance</vt:lpstr>
      <vt:lpstr>Methodology and Sampling Strategy:  Data Collection method</vt:lpstr>
      <vt:lpstr>Methodology and Sampling Strategy:  Data Preprocessing and Analysis</vt:lpstr>
      <vt:lpstr>Statistical findings  1. PM2.5 vs global safety standard</vt:lpstr>
      <vt:lpstr>Statistical findings  2. relationship plot (PM 2.5 &amp; pm10)</vt:lpstr>
      <vt:lpstr>STATISTICAL FINDINGS  3. relationship plots (pm2.5 &amp; humidity)</vt:lpstr>
      <vt:lpstr>Statistical findings  4. Relationship Plot (Humidity &amp; temperature)</vt:lpstr>
      <vt:lpstr>Spatial distribution</vt:lpstr>
      <vt:lpstr>Limitations</vt:lpstr>
      <vt:lpstr>RECOMMENDATION</vt:lpstr>
      <vt:lpstr>FOLLOW ON STUDY</vt:lpstr>
      <vt:lpstr>Reference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Spatial Analysis of Air Quality Across Salford University</dc:title>
  <dc:creator>jubril ifekoya</dc:creator>
  <cp:lastModifiedBy>jubril ifekoya</cp:lastModifiedBy>
  <cp:revision>71</cp:revision>
  <dcterms:created xsi:type="dcterms:W3CDTF">2026-04-13T06:45:29Z</dcterms:created>
  <dcterms:modified xsi:type="dcterms:W3CDTF">2026-04-15T11:18:31Z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